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jjwal Pathak" userId="1439ac7ed1a844c6" providerId="LiveId" clId="{1033E388-D78B-441F-9F21-173E52E149D8}"/>
    <pc:docChg chg="undo custSel modSld">
      <pc:chgData name="Prajjwal Pathak" userId="1439ac7ed1a844c6" providerId="LiveId" clId="{1033E388-D78B-441F-9F21-173E52E149D8}" dt="2026-09-10T17:29:27.662" v="26" actId="27636"/>
      <pc:docMkLst>
        <pc:docMk/>
      </pc:docMkLst>
      <pc:sldChg chg="modSp mod">
        <pc:chgData name="Prajjwal Pathak" userId="1439ac7ed1a844c6" providerId="LiveId" clId="{1033E388-D78B-441F-9F21-173E52E149D8}" dt="2026-09-10T17:28:07.319" v="1" actId="14100"/>
        <pc:sldMkLst>
          <pc:docMk/>
          <pc:sldMk cId="0" sldId="281"/>
        </pc:sldMkLst>
        <pc:spChg chg="mod">
          <ac:chgData name="Prajjwal Pathak" userId="1439ac7ed1a844c6" providerId="LiveId" clId="{1033E388-D78B-441F-9F21-173E52E149D8}" dt="2026-09-10T17:28:07.319" v="1" actId="14100"/>
          <ac:spMkLst>
            <pc:docMk/>
            <pc:sldMk cId="0" sldId="281"/>
            <ac:spMk id="15370" creationId="{00000000-0000-0000-0000-000000000000}"/>
          </ac:spMkLst>
        </pc:spChg>
      </pc:sldChg>
      <pc:sldChg chg="modSp mod">
        <pc:chgData name="Prajjwal Pathak" userId="1439ac7ed1a844c6" providerId="LiveId" clId="{1033E388-D78B-441F-9F21-173E52E149D8}" dt="2026-09-10T17:29:27.662" v="26" actId="27636"/>
        <pc:sldMkLst>
          <pc:docMk/>
          <pc:sldMk cId="0" sldId="290"/>
        </pc:sldMkLst>
        <pc:spChg chg="mod">
          <ac:chgData name="Prajjwal Pathak" userId="1439ac7ed1a844c6" providerId="LiveId" clId="{1033E388-D78B-441F-9F21-173E52E149D8}" dt="2026-09-10T17:29:27.662" v="26" actId="27636"/>
          <ac:spMkLst>
            <pc:docMk/>
            <pc:sldMk cId="0" sldId="290"/>
            <ac:spMk id="17413" creationId="{00000000-0000-0000-0000-000000000000}"/>
          </ac:spMkLst>
        </pc:spChg>
        <pc:spChg chg="mod">
          <ac:chgData name="Prajjwal Pathak" userId="1439ac7ed1a844c6" providerId="LiveId" clId="{1033E388-D78B-441F-9F21-173E52E149D8}" dt="2026-09-10T17:28:23.973" v="4" actId="27636"/>
          <ac:spMkLst>
            <pc:docMk/>
            <pc:sldMk cId="0" sldId="290"/>
            <ac:spMk id="174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lIns="73152" tIns="73152" rIns="73152" bIns="73152" rtlCol="0" anchor="t">
            <a:normAutofit/>
          </a:bodyPr>
          <a:lstStyle/>
          <a:p>
            <a:pPr algn="l"/>
            <a:r>
              <a:rPr sz="1600" b="0">
                <a:solidFill>
                  <a:srgbClr val="1E232A"/>
                </a:solidFill>
                <a:latin typeface="Arial"/>
              </a:rPr>
              <a:t>Problem Statement ID – SIH26165
Problem Statement Title – AI/NLP Engine to Detect Serious Injury &amp; Fatality (SIF) Precursors in OIL's Unsafe-Act/Unsafe-Condition and Near-Miss Reports
Theme – Smart Automation
PS Category – Software
Team ID – [ENTER TEAM ID]
Team Name (Registered on portal) – [ENTER TEAM NAME]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94360" y="5440680"/>
            <a:ext cx="52120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00" b="1">
                <a:solidFill>
                  <a:srgbClr val="2C3F70"/>
                </a:solidFill>
                <a:latin typeface="Arial"/>
              </a:rPr>
              <a:t>SIF-GUARD • Explainable Safety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 lIns="18288" tIns="18288" rIns="18288" bIns="18288" anchor="ctr">
            <a:normAutofit/>
          </a:bodyPr>
          <a:lstStyle/>
          <a:p>
            <a:pPr algn="ctr" eaLnBrk="1" hangingPunct="1"/>
            <a:r>
              <a:rPr sz="2400" b="1">
                <a:solidFill>
                  <a:srgbClr val="2C3F70"/>
                </a:solidFill>
                <a:latin typeface="Times New Roman"/>
              </a:rPr>
              <a:t>SIF-GUARD: AI/NLP SIF PRECURSOR INTELLIGENCE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18288" tIns="18288" rIns="18288" bIns="18288" rtlCol="0" anchor="ctr">
            <a:normAutofit/>
          </a:bodyPr>
          <a:lstStyle/>
          <a:p>
            <a:pPr algn="ctr"/>
            <a:r>
              <a:rPr sz="1100" b="1">
                <a:solidFill>
                  <a:srgbClr val="2C3F70"/>
                </a:solidFill>
                <a:latin typeface="Arial"/>
              </a:rPr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502920" y="1325880"/>
            <a:ext cx="3246120" cy="196596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4" name="Rectangle 15363"/>
          <p:cNvSpPr/>
          <p:nvPr/>
        </p:nvSpPr>
        <p:spPr>
          <a:xfrm>
            <a:off x="502920" y="1325880"/>
            <a:ext cx="73152" cy="1965960"/>
          </a:xfrm>
          <a:prstGeom prst="rect">
            <a:avLst/>
          </a:prstGeom>
          <a:solidFill>
            <a:srgbClr val="F07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5" name="TextBox 15364"/>
          <p:cNvSpPr txBox="1"/>
          <p:nvPr/>
        </p:nvSpPr>
        <p:spPr>
          <a:xfrm>
            <a:off x="649224" y="1417320"/>
            <a:ext cx="30175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2C3F70"/>
                </a:solidFill>
                <a:latin typeface="Arial"/>
              </a:rPr>
              <a:t>THE GAP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649224" y="1764792"/>
            <a:ext cx="3017520" cy="1453895"/>
          </a:xfrm>
          <a:prstGeom prst="rect">
            <a:avLst/>
          </a:prstGeom>
          <a:noFill/>
        </p:spPr>
        <p:txBody>
          <a:bodyPr wrap="square" lIns="9144" tIns="9144" rIns="9144" bIns="9144">
            <a:norm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1E232A"/>
                </a:solidFill>
                <a:latin typeface="Arial"/>
              </a:defRPr>
            </a:pPr>
            <a:r>
              <a:t>• Large volumes of UA/UC, near-miss and incident narratives are manually triaged.</a:t>
            </a:r>
          </a:p>
          <a:p>
            <a:pPr>
              <a:spcAft>
                <a:spcPts val="300"/>
              </a:spcAft>
              <a:defRPr sz="1250">
                <a:solidFill>
                  <a:srgbClr val="1E232A"/>
                </a:solidFill>
                <a:latin typeface="Arial"/>
              </a:defRPr>
            </a:pPr>
            <a:r>
              <a:t>• SIF signals can be buried inside low-severity reports.</a:t>
            </a:r>
          </a:p>
          <a:p>
            <a:pPr>
              <a:spcAft>
                <a:spcPts val="300"/>
              </a:spcAft>
              <a:defRPr sz="1250">
                <a:solidFill>
                  <a:srgbClr val="1E232A"/>
                </a:solidFill>
                <a:latin typeface="Arial"/>
              </a:defRPr>
            </a:pPr>
            <a:r>
              <a:t>• HSE needs prioritization by fatal potential — not report count alone.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502920" y="3456432"/>
            <a:ext cx="3246120" cy="1783080"/>
          </a:xfrm>
          <a:prstGeom prst="roundRect">
            <a:avLst/>
          </a:prstGeom>
          <a:solidFill>
            <a:srgbClr val="E8F7EF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8" name="Rectangle 15367"/>
          <p:cNvSpPr/>
          <p:nvPr/>
        </p:nvSpPr>
        <p:spPr>
          <a:xfrm>
            <a:off x="502920" y="3456432"/>
            <a:ext cx="73152" cy="178308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9" name="TextBox 15368"/>
          <p:cNvSpPr txBox="1"/>
          <p:nvPr/>
        </p:nvSpPr>
        <p:spPr>
          <a:xfrm>
            <a:off x="649224" y="3547872"/>
            <a:ext cx="30175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2C3F70"/>
                </a:solidFill>
                <a:latin typeface="Arial"/>
              </a:rPr>
              <a:t>OUR SOLUTION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649224" y="3767010"/>
            <a:ext cx="3017520" cy="1637094"/>
          </a:xfrm>
          <a:prstGeom prst="rect">
            <a:avLst/>
          </a:prstGeom>
          <a:noFill/>
        </p:spPr>
        <p:txBody>
          <a:bodyPr wrap="square" lIns="9144" tIns="9144" rIns="9144" bIns="9144">
            <a:normAutofit/>
          </a:bodyPr>
          <a:lstStyle/>
          <a:p>
            <a:pPr>
              <a:spcAft>
                <a:spcPts val="300"/>
              </a:spcAft>
              <a:defRPr sz="1220">
                <a:solidFill>
                  <a:srgbClr val="1E232A"/>
                </a:solidFill>
                <a:latin typeface="Arial"/>
              </a:defRPr>
            </a:pPr>
            <a:r>
              <a:rPr dirty="0"/>
              <a:t>• Ingest free-text safety reports + metadata.</a:t>
            </a:r>
          </a:p>
          <a:p>
            <a:pPr>
              <a:spcAft>
                <a:spcPts val="300"/>
              </a:spcAft>
              <a:defRPr sz="1220">
                <a:solidFill>
                  <a:srgbClr val="1E232A"/>
                </a:solidFill>
                <a:latin typeface="Arial"/>
              </a:defRPr>
            </a:pPr>
            <a:r>
              <a:rPr dirty="0"/>
              <a:t>• Classify SIF-potential vs non-SIF-potential.</a:t>
            </a:r>
          </a:p>
          <a:p>
            <a:pPr>
              <a:spcAft>
                <a:spcPts val="300"/>
              </a:spcAft>
              <a:defRPr sz="1220">
                <a:solidFill>
                  <a:srgbClr val="1E232A"/>
                </a:solidFill>
                <a:latin typeface="Arial"/>
              </a:defRPr>
            </a:pPr>
            <a:r>
              <a:rPr dirty="0"/>
              <a:t>• Map to IOGP Life-Saving Rules and extract precursor signals.</a:t>
            </a:r>
          </a:p>
          <a:p>
            <a:pPr>
              <a:spcAft>
                <a:spcPts val="300"/>
              </a:spcAft>
              <a:defRPr sz="1220">
                <a:solidFill>
                  <a:srgbClr val="1E232A"/>
                </a:solidFill>
                <a:latin typeface="Arial"/>
              </a:defRPr>
            </a:pPr>
            <a:r>
              <a:rPr dirty="0"/>
              <a:t>• Surface recurring activity/location/barrier patterns.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3977639" y="1298448"/>
            <a:ext cx="37947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300" b="1">
                <a:solidFill>
                  <a:srgbClr val="2C3F70"/>
                </a:solidFill>
                <a:latin typeface="Arial"/>
              </a:rPr>
              <a:t>ONE REPORT → ACTIONABLE SAFETY SIGNAL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4069080" y="1755648"/>
            <a:ext cx="35204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3" name="Oval 15372"/>
          <p:cNvSpPr/>
          <p:nvPr/>
        </p:nvSpPr>
        <p:spPr>
          <a:xfrm>
            <a:off x="4142232" y="1828800"/>
            <a:ext cx="329184" cy="32918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4" name="TextBox 15373"/>
          <p:cNvSpPr txBox="1"/>
          <p:nvPr/>
        </p:nvSpPr>
        <p:spPr>
          <a:xfrm>
            <a:off x="4142232" y="1819656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4544568" y="1792224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150" b="1">
                <a:solidFill>
                  <a:srgbClr val="2C3F70"/>
                </a:solidFill>
                <a:latin typeface="Arial"/>
              </a:rPr>
              <a:t>INGEST</a:t>
            </a:r>
          </a:p>
        </p:txBody>
      </p:sp>
      <p:sp>
        <p:nvSpPr>
          <p:cNvPr id="15376" name="TextBox 15375"/>
          <p:cNvSpPr txBox="1"/>
          <p:nvPr/>
        </p:nvSpPr>
        <p:spPr>
          <a:xfrm>
            <a:off x="5486400" y="1810512"/>
            <a:ext cx="1993392" cy="32918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19" b="0">
                <a:solidFill>
                  <a:srgbClr val="5A5A5A"/>
                </a:solidFill>
                <a:latin typeface="Arial"/>
              </a:rPr>
              <a:t>UA / UC / Near-Miss / Incident</a:t>
            </a:r>
          </a:p>
        </p:txBody>
      </p:sp>
      <p:cxnSp>
        <p:nvCxnSpPr>
          <p:cNvPr id="15377" name="Connector 15376"/>
          <p:cNvCxnSpPr/>
          <p:nvPr/>
        </p:nvCxnSpPr>
        <p:spPr>
          <a:xfrm>
            <a:off x="5824728" y="2240280"/>
            <a:ext cx="0" cy="109728"/>
          </a:xfrm>
          <a:prstGeom prst="line">
            <a:avLst/>
          </a:prstGeom>
          <a:ln w="15240">
            <a:solidFill>
              <a:srgbClr val="BEC6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8" name="Rounded Rectangle 15377"/>
          <p:cNvSpPr/>
          <p:nvPr/>
        </p:nvSpPr>
        <p:spPr>
          <a:xfrm>
            <a:off x="4069080" y="2368296"/>
            <a:ext cx="35204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9" name="Oval 15378"/>
          <p:cNvSpPr/>
          <p:nvPr/>
        </p:nvSpPr>
        <p:spPr>
          <a:xfrm>
            <a:off x="4142232" y="2441448"/>
            <a:ext cx="329184" cy="329184"/>
          </a:xfrm>
          <a:prstGeom prst="ellipse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0" name="TextBox 15379"/>
          <p:cNvSpPr txBox="1"/>
          <p:nvPr/>
        </p:nvSpPr>
        <p:spPr>
          <a:xfrm>
            <a:off x="4142232" y="2432303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4544568" y="2404872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150" b="1">
                <a:solidFill>
                  <a:srgbClr val="2C3F70"/>
                </a:solidFill>
                <a:latin typeface="Arial"/>
              </a:rPr>
              <a:t>NLP</a:t>
            </a:r>
          </a:p>
        </p:txBody>
      </p:sp>
      <p:sp>
        <p:nvSpPr>
          <p:cNvPr id="15382" name="TextBox 15381"/>
          <p:cNvSpPr txBox="1"/>
          <p:nvPr/>
        </p:nvSpPr>
        <p:spPr>
          <a:xfrm>
            <a:off x="5486400" y="2423160"/>
            <a:ext cx="1993392" cy="32918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19" b="0">
                <a:solidFill>
                  <a:srgbClr val="5A5A5A"/>
                </a:solidFill>
                <a:latin typeface="Arial"/>
              </a:rPr>
              <a:t>Clean + extract entities</a:t>
            </a:r>
          </a:p>
        </p:txBody>
      </p:sp>
      <p:cxnSp>
        <p:nvCxnSpPr>
          <p:cNvPr id="15383" name="Connector 15382"/>
          <p:cNvCxnSpPr/>
          <p:nvPr/>
        </p:nvCxnSpPr>
        <p:spPr>
          <a:xfrm>
            <a:off x="5824728" y="2852928"/>
            <a:ext cx="0" cy="109728"/>
          </a:xfrm>
          <a:prstGeom prst="line">
            <a:avLst/>
          </a:prstGeom>
          <a:ln w="15240">
            <a:solidFill>
              <a:srgbClr val="BEC6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4" name="Rounded Rectangle 15383"/>
          <p:cNvSpPr/>
          <p:nvPr/>
        </p:nvSpPr>
        <p:spPr>
          <a:xfrm>
            <a:off x="4069080" y="2980944"/>
            <a:ext cx="35204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5" name="Oval 15384"/>
          <p:cNvSpPr/>
          <p:nvPr/>
        </p:nvSpPr>
        <p:spPr>
          <a:xfrm>
            <a:off x="4142232" y="3054096"/>
            <a:ext cx="329184" cy="329184"/>
          </a:xfrm>
          <a:prstGeom prst="ellipse">
            <a:avLst/>
          </a:prstGeom>
          <a:solidFill>
            <a:srgbClr val="C0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6" name="TextBox 15385"/>
          <p:cNvSpPr txBox="1"/>
          <p:nvPr/>
        </p:nvSpPr>
        <p:spPr>
          <a:xfrm>
            <a:off x="4142232" y="3044951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387" name="TextBox 15386"/>
          <p:cNvSpPr txBox="1"/>
          <p:nvPr/>
        </p:nvSpPr>
        <p:spPr>
          <a:xfrm>
            <a:off x="4544568" y="3017520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150" b="1">
                <a:solidFill>
                  <a:srgbClr val="2C3F70"/>
                </a:solidFill>
                <a:latin typeface="Arial"/>
              </a:rPr>
              <a:t>SIF</a:t>
            </a:r>
          </a:p>
        </p:txBody>
      </p:sp>
      <p:sp>
        <p:nvSpPr>
          <p:cNvPr id="15388" name="TextBox 15387"/>
          <p:cNvSpPr txBox="1"/>
          <p:nvPr/>
        </p:nvSpPr>
        <p:spPr>
          <a:xfrm>
            <a:off x="5486400" y="3035808"/>
            <a:ext cx="1993392" cy="32918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19" b="0">
                <a:solidFill>
                  <a:srgbClr val="5A5A5A"/>
                </a:solidFill>
                <a:latin typeface="Arial"/>
              </a:rPr>
              <a:t>Potential / Non-SIF</a:t>
            </a:r>
          </a:p>
        </p:txBody>
      </p:sp>
      <p:cxnSp>
        <p:nvCxnSpPr>
          <p:cNvPr id="15389" name="Connector 15388"/>
          <p:cNvCxnSpPr/>
          <p:nvPr/>
        </p:nvCxnSpPr>
        <p:spPr>
          <a:xfrm>
            <a:off x="5824728" y="3465576"/>
            <a:ext cx="0" cy="109727"/>
          </a:xfrm>
          <a:prstGeom prst="line">
            <a:avLst/>
          </a:prstGeom>
          <a:ln w="15240">
            <a:solidFill>
              <a:srgbClr val="BEC6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0" name="Rounded Rectangle 15389"/>
          <p:cNvSpPr/>
          <p:nvPr/>
        </p:nvSpPr>
        <p:spPr>
          <a:xfrm>
            <a:off x="4069080" y="3593592"/>
            <a:ext cx="35204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1" name="Oval 15390"/>
          <p:cNvSpPr/>
          <p:nvPr/>
        </p:nvSpPr>
        <p:spPr>
          <a:xfrm>
            <a:off x="4142232" y="3666744"/>
            <a:ext cx="329184" cy="329184"/>
          </a:xfrm>
          <a:prstGeom prst="ellipse">
            <a:avLst/>
          </a:prstGeom>
          <a:solidFill>
            <a:srgbClr val="F07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2" name="TextBox 15391"/>
          <p:cNvSpPr txBox="1"/>
          <p:nvPr/>
        </p:nvSpPr>
        <p:spPr>
          <a:xfrm>
            <a:off x="4142232" y="3657600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393" name="TextBox 15392"/>
          <p:cNvSpPr txBox="1"/>
          <p:nvPr/>
        </p:nvSpPr>
        <p:spPr>
          <a:xfrm>
            <a:off x="4544568" y="3630168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150" b="1">
                <a:solidFill>
                  <a:srgbClr val="2C3F70"/>
                </a:solidFill>
                <a:latin typeface="Arial"/>
              </a:rPr>
              <a:t>MAP</a:t>
            </a:r>
          </a:p>
        </p:txBody>
      </p:sp>
      <p:sp>
        <p:nvSpPr>
          <p:cNvPr id="15394" name="TextBox 15393"/>
          <p:cNvSpPr txBox="1"/>
          <p:nvPr/>
        </p:nvSpPr>
        <p:spPr>
          <a:xfrm>
            <a:off x="5486400" y="3648456"/>
            <a:ext cx="1993392" cy="32918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19" b="0">
                <a:solidFill>
                  <a:srgbClr val="5A5A5A"/>
                </a:solidFill>
                <a:latin typeface="Arial"/>
              </a:rPr>
              <a:t>Life-Saving Rule</a:t>
            </a:r>
          </a:p>
        </p:txBody>
      </p:sp>
      <p:cxnSp>
        <p:nvCxnSpPr>
          <p:cNvPr id="15395" name="Connector 15394"/>
          <p:cNvCxnSpPr/>
          <p:nvPr/>
        </p:nvCxnSpPr>
        <p:spPr>
          <a:xfrm>
            <a:off x="5824728" y="4078224"/>
            <a:ext cx="0" cy="109728"/>
          </a:xfrm>
          <a:prstGeom prst="line">
            <a:avLst/>
          </a:prstGeom>
          <a:ln w="15240">
            <a:solidFill>
              <a:srgbClr val="BEC6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6" name="Rounded Rectangle 15395"/>
          <p:cNvSpPr/>
          <p:nvPr/>
        </p:nvSpPr>
        <p:spPr>
          <a:xfrm>
            <a:off x="4069080" y="4206240"/>
            <a:ext cx="35204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7" name="Oval 15396"/>
          <p:cNvSpPr/>
          <p:nvPr/>
        </p:nvSpPr>
        <p:spPr>
          <a:xfrm>
            <a:off x="4142232" y="4279392"/>
            <a:ext cx="329184" cy="329184"/>
          </a:xfrm>
          <a:prstGeom prst="ellipse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8" name="TextBox 15397"/>
          <p:cNvSpPr txBox="1"/>
          <p:nvPr/>
        </p:nvSpPr>
        <p:spPr>
          <a:xfrm>
            <a:off x="4142232" y="4270248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399" name="TextBox 15398"/>
          <p:cNvSpPr txBox="1"/>
          <p:nvPr/>
        </p:nvSpPr>
        <p:spPr>
          <a:xfrm>
            <a:off x="4544568" y="4242816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sz="1150" b="1">
                <a:solidFill>
                  <a:srgbClr val="2C3F70"/>
                </a:solidFill>
                <a:latin typeface="Arial"/>
              </a:rPr>
              <a:t>RANK</a:t>
            </a:r>
          </a:p>
        </p:txBody>
      </p:sp>
      <p:sp>
        <p:nvSpPr>
          <p:cNvPr id="15400" name="TextBox 15399"/>
          <p:cNvSpPr txBox="1"/>
          <p:nvPr/>
        </p:nvSpPr>
        <p:spPr>
          <a:xfrm>
            <a:off x="5486400" y="4261103"/>
            <a:ext cx="1993392" cy="32918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19" b="0">
                <a:solidFill>
                  <a:srgbClr val="5A5A5A"/>
                </a:solidFill>
                <a:latin typeface="Arial"/>
              </a:rPr>
              <a:t>Precursor density + priority</a:t>
            </a:r>
          </a:p>
        </p:txBody>
      </p:sp>
      <p:sp>
        <p:nvSpPr>
          <p:cNvPr id="15401" name="Rounded Rectangle 15400"/>
          <p:cNvSpPr/>
          <p:nvPr/>
        </p:nvSpPr>
        <p:spPr>
          <a:xfrm>
            <a:off x="7909560" y="1298448"/>
            <a:ext cx="3703320" cy="3913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3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02" name="TextBox 15401"/>
          <p:cNvSpPr txBox="1"/>
          <p:nvPr/>
        </p:nvSpPr>
        <p:spPr>
          <a:xfrm>
            <a:off x="8138160" y="1481328"/>
            <a:ext cx="3246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200" b="1">
                <a:solidFill>
                  <a:srgbClr val="2C3F70"/>
                </a:solidFill>
                <a:latin typeface="Arial"/>
              </a:rPr>
              <a:t>ILLUSTRATIVE HSE OUTPUT</a:t>
            </a:r>
          </a:p>
        </p:txBody>
      </p:sp>
      <p:sp>
        <p:nvSpPr>
          <p:cNvPr id="15403" name="Rounded Rectangle 15402"/>
          <p:cNvSpPr/>
          <p:nvPr/>
        </p:nvSpPr>
        <p:spPr>
          <a:xfrm>
            <a:off x="8156448" y="1847088"/>
            <a:ext cx="1417320" cy="1078992"/>
          </a:xfrm>
          <a:prstGeom prst="roundRect">
            <a:avLst/>
          </a:prstGeom>
          <a:solidFill>
            <a:srgbClr val="FCECEC"/>
          </a:solidFill>
          <a:ln w="12700"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04" name="TextBox 15403"/>
          <p:cNvSpPr txBox="1"/>
          <p:nvPr/>
        </p:nvSpPr>
        <p:spPr>
          <a:xfrm>
            <a:off x="8247888" y="1975104"/>
            <a:ext cx="12344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950" b="1">
                <a:solidFill>
                  <a:srgbClr val="C03737"/>
                </a:solidFill>
                <a:latin typeface="Arial"/>
              </a:rPr>
              <a:t>SIF POTENTIAL</a:t>
            </a:r>
          </a:p>
        </p:txBody>
      </p:sp>
      <p:sp>
        <p:nvSpPr>
          <p:cNvPr id="15405" name="TextBox 15404"/>
          <p:cNvSpPr txBox="1"/>
          <p:nvPr/>
        </p:nvSpPr>
        <p:spPr>
          <a:xfrm>
            <a:off x="8247888" y="2249424"/>
            <a:ext cx="12344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2200" b="1">
                <a:solidFill>
                  <a:srgbClr val="C03737"/>
                </a:solidFill>
                <a:latin typeface="Arial"/>
              </a:rPr>
              <a:t>HIGH</a:t>
            </a:r>
          </a:p>
        </p:txBody>
      </p:sp>
      <p:sp>
        <p:nvSpPr>
          <p:cNvPr id="15406" name="TextBox 15405"/>
          <p:cNvSpPr txBox="1"/>
          <p:nvPr/>
        </p:nvSpPr>
        <p:spPr>
          <a:xfrm>
            <a:off x="9710928" y="1883664"/>
            <a:ext cx="1627632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19" b="1">
                <a:solidFill>
                  <a:srgbClr val="5A5A5A"/>
                </a:solidFill>
                <a:latin typeface="Arial"/>
              </a:rPr>
              <a:t>LIFE-SAVING RULE</a:t>
            </a:r>
          </a:p>
        </p:txBody>
      </p:sp>
      <p:sp>
        <p:nvSpPr>
          <p:cNvPr id="15407" name="TextBox 15406"/>
          <p:cNvSpPr txBox="1"/>
          <p:nvPr/>
        </p:nvSpPr>
        <p:spPr>
          <a:xfrm>
            <a:off x="9710928" y="2139696"/>
            <a:ext cx="1627632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2C3F70"/>
                </a:solidFill>
                <a:latin typeface="Arial"/>
              </a:rPr>
              <a:t>LINE OF FIRE</a:t>
            </a:r>
          </a:p>
        </p:txBody>
      </p:sp>
      <p:sp>
        <p:nvSpPr>
          <p:cNvPr id="15408" name="TextBox 15407"/>
          <p:cNvSpPr txBox="1"/>
          <p:nvPr/>
        </p:nvSpPr>
        <p:spPr>
          <a:xfrm>
            <a:off x="8183879" y="3127248"/>
            <a:ext cx="3063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00" b="1">
                <a:solidFill>
                  <a:srgbClr val="2C3F70"/>
                </a:solidFill>
                <a:latin typeface="Arial"/>
              </a:rPr>
              <a:t>Extracted precursor signals</a:t>
            </a:r>
          </a:p>
        </p:txBody>
      </p:sp>
      <p:sp>
        <p:nvSpPr>
          <p:cNvPr id="15409" name="TextBox 15408"/>
          <p:cNvSpPr txBox="1"/>
          <p:nvPr/>
        </p:nvSpPr>
        <p:spPr>
          <a:xfrm>
            <a:off x="8229600" y="3456432"/>
            <a:ext cx="71323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50" b="1">
                <a:solidFill>
                  <a:srgbClr val="5A5A5A"/>
                </a:solidFill>
                <a:latin typeface="Arial"/>
              </a:rPr>
              <a:t>Activity</a:t>
            </a:r>
          </a:p>
        </p:txBody>
      </p:sp>
      <p:sp>
        <p:nvSpPr>
          <p:cNvPr id="15410" name="TextBox 15409"/>
          <p:cNvSpPr txBox="1"/>
          <p:nvPr/>
        </p:nvSpPr>
        <p:spPr>
          <a:xfrm>
            <a:off x="8942832" y="3456432"/>
            <a:ext cx="2514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50" b="0">
                <a:solidFill>
                  <a:srgbClr val="1E232A"/>
                </a:solidFill>
                <a:latin typeface="Arial"/>
              </a:rPr>
              <a:t>Equipment maintenance</a:t>
            </a:r>
          </a:p>
        </p:txBody>
      </p:sp>
      <p:sp>
        <p:nvSpPr>
          <p:cNvPr id="15411" name="Oval 15410"/>
          <p:cNvSpPr/>
          <p:nvPr/>
        </p:nvSpPr>
        <p:spPr>
          <a:xfrm>
            <a:off x="8229600" y="3739896"/>
            <a:ext cx="91440" cy="914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12" name="TextBox 15411"/>
          <p:cNvSpPr txBox="1"/>
          <p:nvPr/>
        </p:nvSpPr>
        <p:spPr>
          <a:xfrm>
            <a:off x="8229600" y="3895344"/>
            <a:ext cx="71323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50" b="1">
                <a:solidFill>
                  <a:srgbClr val="5A5A5A"/>
                </a:solidFill>
                <a:latin typeface="Arial"/>
              </a:rPr>
              <a:t>Location</a:t>
            </a:r>
          </a:p>
        </p:txBody>
      </p:sp>
      <p:sp>
        <p:nvSpPr>
          <p:cNvPr id="15413" name="TextBox 15412"/>
          <p:cNvSpPr txBox="1"/>
          <p:nvPr/>
        </p:nvSpPr>
        <p:spPr>
          <a:xfrm>
            <a:off x="8942832" y="3895344"/>
            <a:ext cx="2514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50" b="0">
                <a:solidFill>
                  <a:srgbClr val="1E232A"/>
                </a:solidFill>
                <a:latin typeface="Arial"/>
              </a:rPr>
              <a:t>Process area</a:t>
            </a:r>
          </a:p>
        </p:txBody>
      </p:sp>
      <p:sp>
        <p:nvSpPr>
          <p:cNvPr id="15414" name="Oval 15413"/>
          <p:cNvSpPr/>
          <p:nvPr/>
        </p:nvSpPr>
        <p:spPr>
          <a:xfrm>
            <a:off x="8229600" y="4178807"/>
            <a:ext cx="91440" cy="91440"/>
          </a:xfrm>
          <a:prstGeom prst="ellipse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15" name="TextBox 15414"/>
          <p:cNvSpPr txBox="1"/>
          <p:nvPr/>
        </p:nvSpPr>
        <p:spPr>
          <a:xfrm>
            <a:off x="8229600" y="4334256"/>
            <a:ext cx="71323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50" b="1">
                <a:solidFill>
                  <a:srgbClr val="5A5A5A"/>
                </a:solidFill>
                <a:latin typeface="Arial"/>
              </a:rPr>
              <a:t>Barrier</a:t>
            </a:r>
          </a:p>
        </p:txBody>
      </p:sp>
      <p:sp>
        <p:nvSpPr>
          <p:cNvPr id="15416" name="TextBox 15415"/>
          <p:cNvSpPr txBox="1"/>
          <p:nvPr/>
        </p:nvSpPr>
        <p:spPr>
          <a:xfrm>
            <a:off x="8942832" y="4334256"/>
            <a:ext cx="2514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50" b="0">
                <a:solidFill>
                  <a:srgbClr val="1E232A"/>
                </a:solidFill>
                <a:latin typeface="Arial"/>
              </a:rPr>
              <a:t>Energy isolation gap</a:t>
            </a:r>
          </a:p>
        </p:txBody>
      </p:sp>
      <p:sp>
        <p:nvSpPr>
          <p:cNvPr id="15417" name="Oval 15416"/>
          <p:cNvSpPr/>
          <p:nvPr/>
        </p:nvSpPr>
        <p:spPr>
          <a:xfrm>
            <a:off x="8229600" y="4617720"/>
            <a:ext cx="91440" cy="91440"/>
          </a:xfrm>
          <a:prstGeom prst="ellipse">
            <a:avLst/>
          </a:prstGeom>
          <a:solidFill>
            <a:srgbClr val="F07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18" name="TextBox 15417"/>
          <p:cNvSpPr txBox="1"/>
          <p:nvPr/>
        </p:nvSpPr>
        <p:spPr>
          <a:xfrm>
            <a:off x="8229600" y="4754880"/>
            <a:ext cx="3017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950" b="1">
                <a:solidFill>
                  <a:srgbClr val="228B5E"/>
                </a:solidFill>
                <a:latin typeface="Arial"/>
              </a:rPr>
              <a:t>Explainable: show evidence from the source report</a:t>
            </a:r>
          </a:p>
        </p:txBody>
      </p:sp>
      <p:sp>
        <p:nvSpPr>
          <p:cNvPr id="15419" name="Rounded Rectangle 15418"/>
          <p:cNvSpPr/>
          <p:nvPr/>
        </p:nvSpPr>
        <p:spPr>
          <a:xfrm>
            <a:off x="502920" y="5440680"/>
            <a:ext cx="11109960" cy="438912"/>
          </a:xfrm>
          <a:prstGeom prst="roundRect">
            <a:avLst/>
          </a:prstGeom>
          <a:solidFill>
            <a:srgbClr val="2C3F70"/>
          </a:solidFill>
          <a:ln w="12700">
            <a:solidFill>
              <a:srgbClr val="2C3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20" name="TextBox 15419"/>
          <p:cNvSpPr txBox="1"/>
          <p:nvPr/>
        </p:nvSpPr>
        <p:spPr>
          <a:xfrm>
            <a:off x="685800" y="5513832"/>
            <a:ext cx="1074420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WHY IT STANDS OUT  •  SIF-specific detection  •  Rule-aware tagging  •  Explainable evidence  •  Precursor-density prioritization  •  HSE decision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lIns="18288" tIns="18288" rIns="18288" bIns="18288" anchor="ctr">
            <a:normAutofit/>
          </a:bodyPr>
          <a:lstStyle/>
          <a:p>
            <a:pPr algn="ctr" eaLnBrk="1" hangingPunct="1"/>
            <a:r>
              <a:rPr sz="2400" b="1">
                <a:solidFill>
                  <a:srgbClr val="2C3F70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18288" tIns="18288" rIns="18288" bIns="18288" rtlCol="0" anchor="ctr">
            <a:normAutofit/>
          </a:bodyPr>
          <a:lstStyle/>
          <a:p>
            <a:pPr algn="ctr"/>
            <a:r>
              <a:rPr sz="1100" b="1">
                <a:solidFill>
                  <a:srgbClr val="2C3F70"/>
                </a:solidFill>
                <a:latin typeface="Arial"/>
              </a:rPr>
              <a:t>[TEAM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02920" y="1234440"/>
            <a:ext cx="29718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Rectangle 17411"/>
          <p:cNvSpPr/>
          <p:nvPr/>
        </p:nvSpPr>
        <p:spPr>
          <a:xfrm>
            <a:off x="502920" y="1234440"/>
            <a:ext cx="73152" cy="20574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649224" y="1325879"/>
            <a:ext cx="2743200" cy="4378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 lnSpcReduction="20000"/>
          </a:bodyPr>
          <a:lstStyle/>
          <a:p>
            <a:pPr algn="l"/>
            <a:r>
              <a:rPr sz="1500" b="1" dirty="0">
                <a:solidFill>
                  <a:srgbClr val="2C3F70"/>
                </a:solidFill>
                <a:latin typeface="Arial"/>
              </a:rPr>
              <a:t>PROPOSED TECHNOLOGY STACK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49224" y="1775841"/>
            <a:ext cx="2743200" cy="1503845"/>
          </a:xfrm>
          <a:prstGeom prst="rect">
            <a:avLst/>
          </a:prstGeom>
          <a:noFill/>
        </p:spPr>
        <p:txBody>
          <a:bodyPr wrap="square" lIns="9144" tIns="9144" rIns="9144" bIns="9144">
            <a:normAutofit lnSpcReduction="10000"/>
          </a:bodyPr>
          <a:lstStyle/>
          <a:p>
            <a:pPr>
              <a:spcAft>
                <a:spcPts val="300"/>
              </a:spcAft>
              <a:defRPr sz="1150">
                <a:solidFill>
                  <a:srgbClr val="1E232A"/>
                </a:solidFill>
                <a:latin typeface="Arial"/>
              </a:defRPr>
            </a:pPr>
            <a:r>
              <a:rPr dirty="0"/>
              <a:t>• Frontend: React + dashboard charts</a:t>
            </a:r>
          </a:p>
          <a:p>
            <a:pPr>
              <a:spcAft>
                <a:spcPts val="300"/>
              </a:spcAft>
              <a:defRPr sz="1150">
                <a:solidFill>
                  <a:srgbClr val="1E232A"/>
                </a:solidFill>
                <a:latin typeface="Arial"/>
              </a:defRPr>
            </a:pPr>
            <a:r>
              <a:rPr dirty="0"/>
              <a:t>• Backend: Python + </a:t>
            </a:r>
            <a:r>
              <a:rPr dirty="0" err="1"/>
              <a:t>FastAPI</a:t>
            </a:r>
            <a:endParaRPr dirty="0"/>
          </a:p>
          <a:p>
            <a:pPr>
              <a:spcAft>
                <a:spcPts val="300"/>
              </a:spcAft>
              <a:defRPr sz="1150">
                <a:solidFill>
                  <a:srgbClr val="1E232A"/>
                </a:solidFill>
                <a:latin typeface="Arial"/>
              </a:defRPr>
            </a:pPr>
            <a:r>
              <a:rPr dirty="0"/>
              <a:t>• NLP/ML: Transformers + </a:t>
            </a:r>
            <a:r>
              <a:rPr dirty="0" err="1"/>
              <a:t>spaCy</a:t>
            </a:r>
            <a:r>
              <a:rPr dirty="0"/>
              <a:t> + scikit-learn</a:t>
            </a:r>
          </a:p>
          <a:p>
            <a:pPr>
              <a:spcAft>
                <a:spcPts val="300"/>
              </a:spcAft>
              <a:defRPr sz="1150">
                <a:solidFill>
                  <a:srgbClr val="1E232A"/>
                </a:solidFill>
                <a:latin typeface="Arial"/>
              </a:defRPr>
            </a:pPr>
            <a:r>
              <a:rPr dirty="0"/>
              <a:t>• Data: PostgreSQL + S3-compatible object storage</a:t>
            </a:r>
          </a:p>
          <a:p>
            <a:pPr>
              <a:spcAft>
                <a:spcPts val="300"/>
              </a:spcAft>
              <a:defRPr sz="1150">
                <a:solidFill>
                  <a:srgbClr val="1E232A"/>
                </a:solidFill>
                <a:latin typeface="Arial"/>
              </a:defRPr>
            </a:pPr>
            <a:r>
              <a:rPr dirty="0"/>
              <a:t>• Security: API Gateway + authentication / role-based access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02920" y="3456432"/>
            <a:ext cx="2971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Rectangle 17415"/>
          <p:cNvSpPr/>
          <p:nvPr/>
        </p:nvSpPr>
        <p:spPr>
          <a:xfrm>
            <a:off x="502920" y="3456432"/>
            <a:ext cx="73152" cy="192024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649224" y="3547872"/>
            <a:ext cx="27432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2C3F70"/>
                </a:solidFill>
                <a:latin typeface="Arial"/>
              </a:rPr>
              <a:t>DESIGN PRINCIPLES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49224" y="3895344"/>
            <a:ext cx="2743200" cy="1408176"/>
          </a:xfrm>
          <a:prstGeom prst="rect">
            <a:avLst/>
          </a:prstGeom>
          <a:noFill/>
        </p:spPr>
        <p:txBody>
          <a:bodyPr wrap="square" lIns="9144" tIns="9144" rIns="9144" bIns="9144">
            <a:normAutofit/>
          </a:bodyPr>
          <a:lstStyle/>
          <a:p>
            <a:pPr>
              <a:spcAft>
                <a:spcPts val="300"/>
              </a:spcAft>
              <a:defRPr sz="1180">
                <a:solidFill>
                  <a:srgbClr val="1E232A"/>
                </a:solidFill>
                <a:latin typeface="Arial"/>
              </a:defRPr>
            </a:pPr>
            <a:r>
              <a:t>• Explainable outputs with supporting evidence</a:t>
            </a:r>
          </a:p>
          <a:p>
            <a:pPr>
              <a:spcAft>
                <a:spcPts val="300"/>
              </a:spcAft>
              <a:defRPr sz="1180">
                <a:solidFill>
                  <a:srgbClr val="1E232A"/>
                </a:solidFill>
                <a:latin typeface="Arial"/>
              </a:defRPr>
            </a:pPr>
            <a:r>
              <a:t>• Confidence-aware prioritization</a:t>
            </a:r>
          </a:p>
          <a:p>
            <a:pPr>
              <a:spcAft>
                <a:spcPts val="300"/>
              </a:spcAft>
              <a:defRPr sz="1180">
                <a:solidFill>
                  <a:srgbClr val="1E232A"/>
                </a:solidFill>
                <a:latin typeface="Arial"/>
              </a:defRPr>
            </a:pPr>
            <a:r>
              <a:t>• Human review for borderline / high-risk cases</a:t>
            </a:r>
          </a:p>
          <a:p>
            <a:pPr>
              <a:spcAft>
                <a:spcPts val="300"/>
              </a:spcAft>
              <a:defRPr sz="1180">
                <a:solidFill>
                  <a:srgbClr val="1E232A"/>
                </a:solidFill>
                <a:latin typeface="Arial"/>
              </a:defRPr>
            </a:pPr>
            <a:r>
              <a:t>• Scalable ingestion for 100,000+ reports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3703320" y="1225296"/>
            <a:ext cx="7818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250" b="1">
                <a:solidFill>
                  <a:srgbClr val="2C3F70"/>
                </a:solidFill>
                <a:latin typeface="Arial"/>
              </a:rPr>
              <a:t>SYSTEM FLOW — aligned with the project architecture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794760" y="1719072"/>
            <a:ext cx="11887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TextBox 17420"/>
          <p:cNvSpPr txBox="1"/>
          <p:nvPr/>
        </p:nvSpPr>
        <p:spPr>
          <a:xfrm>
            <a:off x="3840480" y="1810512"/>
            <a:ext cx="109728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880" b="1">
                <a:solidFill>
                  <a:srgbClr val="0070C0"/>
                </a:solidFill>
                <a:latin typeface="Arial"/>
              </a:rPr>
              <a:t>INPUT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3840480" y="2103120"/>
            <a:ext cx="1097280" cy="402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790" b="0">
                <a:solidFill>
                  <a:srgbClr val="1E232A"/>
                </a:solidFill>
                <a:latin typeface="Arial"/>
              </a:rPr>
              <a:t>CSV / reports
+ metadata</a:t>
            </a:r>
          </a:p>
        </p:txBody>
      </p:sp>
      <p:cxnSp>
        <p:nvCxnSpPr>
          <p:cNvPr id="17423" name="Connector 17422"/>
          <p:cNvCxnSpPr/>
          <p:nvPr/>
        </p:nvCxnSpPr>
        <p:spPr>
          <a:xfrm>
            <a:off x="4983480" y="2185415"/>
            <a:ext cx="100584" cy="0"/>
          </a:xfrm>
          <a:prstGeom prst="line">
            <a:avLst/>
          </a:prstGeom>
          <a:ln w="17780">
            <a:solidFill>
              <a:srgbClr val="BEC6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4" name="Rounded Rectangle 17423"/>
          <p:cNvSpPr/>
          <p:nvPr/>
        </p:nvSpPr>
        <p:spPr>
          <a:xfrm>
            <a:off x="5102352" y="1719072"/>
            <a:ext cx="11887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TextBox 17424"/>
          <p:cNvSpPr txBox="1"/>
          <p:nvPr/>
        </p:nvSpPr>
        <p:spPr>
          <a:xfrm>
            <a:off x="5148072" y="1810512"/>
            <a:ext cx="109728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880" b="1">
                <a:solidFill>
                  <a:srgbClr val="009196"/>
                </a:solidFill>
                <a:latin typeface="Arial"/>
              </a:rPr>
              <a:t>API GATEWAY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5148072" y="2103120"/>
            <a:ext cx="1097280" cy="402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790" b="0">
                <a:solidFill>
                  <a:srgbClr val="1E232A"/>
                </a:solidFill>
                <a:latin typeface="Arial"/>
              </a:rPr>
              <a:t>Auth + validation</a:t>
            </a:r>
          </a:p>
        </p:txBody>
      </p:sp>
      <p:cxnSp>
        <p:nvCxnSpPr>
          <p:cNvPr id="17427" name="Connector 17426"/>
          <p:cNvCxnSpPr/>
          <p:nvPr/>
        </p:nvCxnSpPr>
        <p:spPr>
          <a:xfrm>
            <a:off x="6291072" y="2185415"/>
            <a:ext cx="100584" cy="0"/>
          </a:xfrm>
          <a:prstGeom prst="line">
            <a:avLst/>
          </a:prstGeom>
          <a:ln w="17780">
            <a:solidFill>
              <a:srgbClr val="BEC6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8" name="Rounded Rectangle 17427"/>
          <p:cNvSpPr/>
          <p:nvPr/>
        </p:nvSpPr>
        <p:spPr>
          <a:xfrm>
            <a:off x="6409944" y="1719072"/>
            <a:ext cx="11887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7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TextBox 17428"/>
          <p:cNvSpPr txBox="1"/>
          <p:nvPr/>
        </p:nvSpPr>
        <p:spPr>
          <a:xfrm>
            <a:off x="6455664" y="1810512"/>
            <a:ext cx="109728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880" b="1">
                <a:solidFill>
                  <a:srgbClr val="F07E26"/>
                </a:solidFill>
                <a:latin typeface="Arial"/>
              </a:rPr>
              <a:t>REPORT SERVICE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455664" y="2103120"/>
            <a:ext cx="1097280" cy="402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790" b="0">
                <a:solidFill>
                  <a:srgbClr val="1E232A"/>
                </a:solidFill>
                <a:latin typeface="Arial"/>
              </a:rPr>
              <a:t>Store metadata
+ object URL</a:t>
            </a:r>
          </a:p>
        </p:txBody>
      </p:sp>
      <p:cxnSp>
        <p:nvCxnSpPr>
          <p:cNvPr id="17431" name="Connector 17430"/>
          <p:cNvCxnSpPr/>
          <p:nvPr/>
        </p:nvCxnSpPr>
        <p:spPr>
          <a:xfrm>
            <a:off x="7598664" y="2185415"/>
            <a:ext cx="100584" cy="0"/>
          </a:xfrm>
          <a:prstGeom prst="line">
            <a:avLst/>
          </a:prstGeom>
          <a:ln w="17780">
            <a:solidFill>
              <a:srgbClr val="BEC6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2" name="Rounded Rectangle 17431"/>
          <p:cNvSpPr/>
          <p:nvPr/>
        </p:nvSpPr>
        <p:spPr>
          <a:xfrm>
            <a:off x="7717536" y="1719072"/>
            <a:ext cx="11887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TextBox 17432"/>
          <p:cNvSpPr txBox="1"/>
          <p:nvPr/>
        </p:nvSpPr>
        <p:spPr>
          <a:xfrm>
            <a:off x="7763256" y="1810512"/>
            <a:ext cx="109728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880" b="1">
                <a:solidFill>
                  <a:srgbClr val="C03737"/>
                </a:solidFill>
                <a:latin typeface="Arial"/>
              </a:rPr>
              <a:t>ML MODEL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7763256" y="2103120"/>
            <a:ext cx="1097280" cy="402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790" b="0">
                <a:solidFill>
                  <a:srgbClr val="1E232A"/>
                </a:solidFill>
                <a:latin typeface="Arial"/>
              </a:rPr>
              <a:t>SIF + LSR +
precursors</a:t>
            </a:r>
          </a:p>
        </p:txBody>
      </p:sp>
      <p:cxnSp>
        <p:nvCxnSpPr>
          <p:cNvPr id="17435" name="Connector 17434"/>
          <p:cNvCxnSpPr/>
          <p:nvPr/>
        </p:nvCxnSpPr>
        <p:spPr>
          <a:xfrm>
            <a:off x="8906256" y="2185415"/>
            <a:ext cx="100584" cy="0"/>
          </a:xfrm>
          <a:prstGeom prst="line">
            <a:avLst/>
          </a:prstGeom>
          <a:ln w="17780">
            <a:solidFill>
              <a:srgbClr val="BEC6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6" name="Rounded Rectangle 17435"/>
          <p:cNvSpPr/>
          <p:nvPr/>
        </p:nvSpPr>
        <p:spPr>
          <a:xfrm>
            <a:off x="9025128" y="1719072"/>
            <a:ext cx="11887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7" name="TextBox 17436"/>
          <p:cNvSpPr txBox="1"/>
          <p:nvPr/>
        </p:nvSpPr>
        <p:spPr>
          <a:xfrm>
            <a:off x="9070848" y="1810512"/>
            <a:ext cx="109728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880" b="1">
                <a:solidFill>
                  <a:srgbClr val="228B5E"/>
                </a:solidFill>
                <a:latin typeface="Arial"/>
              </a:rPr>
              <a:t>ANALYTICS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9070848" y="2103120"/>
            <a:ext cx="1097280" cy="402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790" b="0">
                <a:solidFill>
                  <a:srgbClr val="1E232A"/>
                </a:solidFill>
                <a:latin typeface="Arial"/>
              </a:rPr>
              <a:t>Density + trends
+ ranking</a:t>
            </a:r>
          </a:p>
        </p:txBody>
      </p:sp>
      <p:cxnSp>
        <p:nvCxnSpPr>
          <p:cNvPr id="17439" name="Connector 17438"/>
          <p:cNvCxnSpPr/>
          <p:nvPr/>
        </p:nvCxnSpPr>
        <p:spPr>
          <a:xfrm>
            <a:off x="10213848" y="2185415"/>
            <a:ext cx="100584" cy="0"/>
          </a:xfrm>
          <a:prstGeom prst="line">
            <a:avLst/>
          </a:prstGeom>
          <a:ln w="17780">
            <a:solidFill>
              <a:srgbClr val="BEC6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0" name="Rounded Rectangle 17439"/>
          <p:cNvSpPr/>
          <p:nvPr/>
        </p:nvSpPr>
        <p:spPr>
          <a:xfrm>
            <a:off x="10332720" y="1719072"/>
            <a:ext cx="11887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3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1" name="TextBox 17440"/>
          <p:cNvSpPr txBox="1"/>
          <p:nvPr/>
        </p:nvSpPr>
        <p:spPr>
          <a:xfrm>
            <a:off x="10378440" y="1810512"/>
            <a:ext cx="109728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880" b="1">
                <a:solidFill>
                  <a:srgbClr val="2C3F70"/>
                </a:solidFill>
                <a:latin typeface="Arial"/>
              </a:rPr>
              <a:t>HSE DASHBOARD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10378440" y="2103120"/>
            <a:ext cx="1097280" cy="402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790" b="0">
                <a:solidFill>
                  <a:srgbClr val="1E232A"/>
                </a:solidFill>
                <a:latin typeface="Arial"/>
              </a:rPr>
              <a:t>Review + filter
+ intervene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3703320" y="2880360"/>
            <a:ext cx="7818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250" b="1">
                <a:solidFill>
                  <a:srgbClr val="2C3F70"/>
                </a:solidFill>
                <a:latin typeface="Arial"/>
              </a:rPr>
              <a:t>AI / NLP PIPELINE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3840480" y="3310128"/>
            <a:ext cx="1143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5" name="TextBox 17444"/>
          <p:cNvSpPr txBox="1"/>
          <p:nvPr/>
        </p:nvSpPr>
        <p:spPr>
          <a:xfrm>
            <a:off x="3886200" y="3410712"/>
            <a:ext cx="1051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919" b="1">
                <a:solidFill>
                  <a:srgbClr val="2C3F70"/>
                </a:solidFill>
                <a:latin typeface="Arial"/>
              </a:rPr>
              <a:t>Pre-process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3886200" y="3749039"/>
            <a:ext cx="105156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770" b="0">
                <a:solidFill>
                  <a:srgbClr val="5A5A5A"/>
                </a:solidFill>
                <a:latin typeface="Arial"/>
              </a:rPr>
              <a:t>normalize,
clean</a:t>
            </a:r>
          </a:p>
        </p:txBody>
      </p:sp>
      <p:cxnSp>
        <p:nvCxnSpPr>
          <p:cNvPr id="17447" name="Connector 17446"/>
          <p:cNvCxnSpPr/>
          <p:nvPr/>
        </p:nvCxnSpPr>
        <p:spPr>
          <a:xfrm>
            <a:off x="4983480" y="3840480"/>
            <a:ext cx="137160" cy="0"/>
          </a:xfrm>
          <a:prstGeom prst="line">
            <a:avLst/>
          </a:prstGeom>
          <a:ln w="17780">
            <a:solidFill>
              <a:srgbClr val="BEC6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8" name="Rounded Rectangle 17447"/>
          <p:cNvSpPr/>
          <p:nvPr/>
        </p:nvSpPr>
        <p:spPr>
          <a:xfrm>
            <a:off x="5138928" y="3310128"/>
            <a:ext cx="1143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9" name="TextBox 17448"/>
          <p:cNvSpPr txBox="1"/>
          <p:nvPr/>
        </p:nvSpPr>
        <p:spPr>
          <a:xfrm>
            <a:off x="5184648" y="3410712"/>
            <a:ext cx="1051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919" b="1">
                <a:solidFill>
                  <a:srgbClr val="2C3F70"/>
                </a:solidFill>
                <a:latin typeface="Arial"/>
              </a:rPr>
              <a:t>Extract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5184648" y="3749039"/>
            <a:ext cx="105156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770" b="0">
                <a:solidFill>
                  <a:srgbClr val="5A5A5A"/>
                </a:solidFill>
                <a:latin typeface="Arial"/>
              </a:rPr>
              <a:t>activity • location
hazard • barrier</a:t>
            </a:r>
          </a:p>
        </p:txBody>
      </p:sp>
      <p:cxnSp>
        <p:nvCxnSpPr>
          <p:cNvPr id="17451" name="Connector 17450"/>
          <p:cNvCxnSpPr/>
          <p:nvPr/>
        </p:nvCxnSpPr>
        <p:spPr>
          <a:xfrm>
            <a:off x="6281928" y="3840480"/>
            <a:ext cx="137160" cy="0"/>
          </a:xfrm>
          <a:prstGeom prst="line">
            <a:avLst/>
          </a:prstGeom>
          <a:ln w="17780">
            <a:solidFill>
              <a:srgbClr val="BEC6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2" name="Rounded Rectangle 17451"/>
          <p:cNvSpPr/>
          <p:nvPr/>
        </p:nvSpPr>
        <p:spPr>
          <a:xfrm>
            <a:off x="6437376" y="3310128"/>
            <a:ext cx="1143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3" name="TextBox 17452"/>
          <p:cNvSpPr txBox="1"/>
          <p:nvPr/>
        </p:nvSpPr>
        <p:spPr>
          <a:xfrm>
            <a:off x="6483096" y="3410712"/>
            <a:ext cx="1051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919" b="1">
                <a:solidFill>
                  <a:srgbClr val="2C3F70"/>
                </a:solidFill>
                <a:latin typeface="Arial"/>
              </a:rPr>
              <a:t>Classify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6483096" y="3749039"/>
            <a:ext cx="105156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770" b="0">
                <a:solidFill>
                  <a:srgbClr val="5A5A5A"/>
                </a:solidFill>
                <a:latin typeface="Arial"/>
              </a:rPr>
              <a:t>SIF / non-SIF</a:t>
            </a:r>
          </a:p>
        </p:txBody>
      </p:sp>
      <p:cxnSp>
        <p:nvCxnSpPr>
          <p:cNvPr id="17455" name="Connector 17454"/>
          <p:cNvCxnSpPr/>
          <p:nvPr/>
        </p:nvCxnSpPr>
        <p:spPr>
          <a:xfrm>
            <a:off x="7580375" y="3840480"/>
            <a:ext cx="137161" cy="0"/>
          </a:xfrm>
          <a:prstGeom prst="line">
            <a:avLst/>
          </a:prstGeom>
          <a:ln w="17780">
            <a:solidFill>
              <a:srgbClr val="BEC6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6" name="Rounded Rectangle 17455"/>
          <p:cNvSpPr/>
          <p:nvPr/>
        </p:nvSpPr>
        <p:spPr>
          <a:xfrm>
            <a:off x="7735824" y="3310128"/>
            <a:ext cx="1143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7" name="TextBox 17456"/>
          <p:cNvSpPr txBox="1"/>
          <p:nvPr/>
        </p:nvSpPr>
        <p:spPr>
          <a:xfrm>
            <a:off x="7781544" y="3410712"/>
            <a:ext cx="1051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919" b="1">
                <a:solidFill>
                  <a:srgbClr val="2C3F70"/>
                </a:solidFill>
                <a:latin typeface="Arial"/>
              </a:rPr>
              <a:t>Map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7781544" y="3749039"/>
            <a:ext cx="105156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770" b="0">
                <a:solidFill>
                  <a:srgbClr val="5A5A5A"/>
                </a:solidFill>
                <a:latin typeface="Arial"/>
              </a:rPr>
              <a:t>IOGP Life-Saving
Rule(s)</a:t>
            </a:r>
          </a:p>
        </p:txBody>
      </p:sp>
      <p:cxnSp>
        <p:nvCxnSpPr>
          <p:cNvPr id="17459" name="Connector 17458"/>
          <p:cNvCxnSpPr/>
          <p:nvPr/>
        </p:nvCxnSpPr>
        <p:spPr>
          <a:xfrm>
            <a:off x="8878824" y="3840480"/>
            <a:ext cx="137160" cy="0"/>
          </a:xfrm>
          <a:prstGeom prst="line">
            <a:avLst/>
          </a:prstGeom>
          <a:ln w="17780">
            <a:solidFill>
              <a:srgbClr val="BEC6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0" name="Rounded Rectangle 17459"/>
          <p:cNvSpPr/>
          <p:nvPr/>
        </p:nvSpPr>
        <p:spPr>
          <a:xfrm>
            <a:off x="9034272" y="3310128"/>
            <a:ext cx="1143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1" name="TextBox 17460"/>
          <p:cNvSpPr txBox="1"/>
          <p:nvPr/>
        </p:nvSpPr>
        <p:spPr>
          <a:xfrm>
            <a:off x="9079992" y="3410712"/>
            <a:ext cx="1051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919" b="1">
                <a:solidFill>
                  <a:srgbClr val="2C3F70"/>
                </a:solidFill>
                <a:latin typeface="Arial"/>
              </a:rPr>
              <a:t>Explain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9079992" y="3749039"/>
            <a:ext cx="105156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770" b="0">
                <a:solidFill>
                  <a:srgbClr val="5A5A5A"/>
                </a:solidFill>
                <a:latin typeface="Arial"/>
              </a:rPr>
              <a:t>evidence +
confidence</a:t>
            </a:r>
          </a:p>
        </p:txBody>
      </p:sp>
      <p:cxnSp>
        <p:nvCxnSpPr>
          <p:cNvPr id="17463" name="Connector 17462"/>
          <p:cNvCxnSpPr/>
          <p:nvPr/>
        </p:nvCxnSpPr>
        <p:spPr>
          <a:xfrm>
            <a:off x="10177272" y="3840480"/>
            <a:ext cx="137160" cy="0"/>
          </a:xfrm>
          <a:prstGeom prst="line">
            <a:avLst/>
          </a:prstGeom>
          <a:ln w="17780">
            <a:solidFill>
              <a:srgbClr val="BEC6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4" name="Rounded Rectangle 17463"/>
          <p:cNvSpPr/>
          <p:nvPr/>
        </p:nvSpPr>
        <p:spPr>
          <a:xfrm>
            <a:off x="10332720" y="3310128"/>
            <a:ext cx="1143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5" name="TextBox 17464"/>
          <p:cNvSpPr txBox="1"/>
          <p:nvPr/>
        </p:nvSpPr>
        <p:spPr>
          <a:xfrm>
            <a:off x="10378440" y="3410712"/>
            <a:ext cx="1051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919" b="1">
                <a:solidFill>
                  <a:srgbClr val="2C3F70"/>
                </a:solidFill>
                <a:latin typeface="Arial"/>
              </a:rPr>
              <a:t>Prioritize</a:t>
            </a:r>
          </a:p>
        </p:txBody>
      </p:sp>
      <p:sp>
        <p:nvSpPr>
          <p:cNvPr id="17466" name="TextBox 17465"/>
          <p:cNvSpPr txBox="1"/>
          <p:nvPr/>
        </p:nvSpPr>
        <p:spPr>
          <a:xfrm>
            <a:off x="10378440" y="3749039"/>
            <a:ext cx="105156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770" b="0">
                <a:solidFill>
                  <a:srgbClr val="5A5A5A"/>
                </a:solidFill>
                <a:latin typeface="Arial"/>
              </a:rPr>
              <a:t>site/activity
SIF density</a:t>
            </a:r>
          </a:p>
        </p:txBody>
      </p:sp>
      <p:sp>
        <p:nvSpPr>
          <p:cNvPr id="17467" name="Rounded Rectangle 17466"/>
          <p:cNvSpPr/>
          <p:nvPr/>
        </p:nvSpPr>
        <p:spPr>
          <a:xfrm>
            <a:off x="3840480" y="4617720"/>
            <a:ext cx="7498079" cy="896112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8" name="TextBox 17467"/>
          <p:cNvSpPr txBox="1"/>
          <p:nvPr/>
        </p:nvSpPr>
        <p:spPr>
          <a:xfrm>
            <a:off x="4041648" y="4727448"/>
            <a:ext cx="96012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00" b="1">
                <a:solidFill>
                  <a:srgbClr val="2C3F70"/>
                </a:solidFill>
                <a:latin typeface="Arial"/>
              </a:rPr>
              <a:t>OUTPUTS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4956048" y="4690872"/>
            <a:ext cx="6172200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/>
            <a:r>
              <a:rPr sz="950" b="0">
                <a:solidFill>
                  <a:srgbClr val="1E232A"/>
                </a:solidFill>
                <a:latin typeface="Arial"/>
              </a:rPr>
              <a:t>Report-level analysis  |  SIF flag  |  Life-Saving Rule  |  Activity / Location / Barrier  |  Evidence  |  Site &amp; activity rankings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lIns="18288" tIns="18288" rIns="18288" bIns="18288" anchor="ctr">
            <a:normAutofit/>
          </a:bodyPr>
          <a:lstStyle/>
          <a:p>
            <a:pPr algn="ctr" eaLnBrk="1" hangingPunct="1"/>
            <a:r>
              <a:rPr sz="2400" b="1">
                <a:solidFill>
                  <a:srgbClr val="2C3F70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18288" tIns="18288" rIns="18288" bIns="18288" rtlCol="0" anchor="ctr">
            <a:normAutofit/>
          </a:bodyPr>
          <a:lstStyle/>
          <a:p>
            <a:pPr algn="ctr"/>
            <a:r>
              <a:rPr sz="1100" b="1">
                <a:solidFill>
                  <a:srgbClr val="2C3F70"/>
                </a:solidFill>
                <a:latin typeface="Arial"/>
              </a:rPr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02920" y="1234440"/>
            <a:ext cx="34290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Rectangle 17411"/>
          <p:cNvSpPr/>
          <p:nvPr/>
        </p:nvSpPr>
        <p:spPr>
          <a:xfrm>
            <a:off x="502920" y="1234440"/>
            <a:ext cx="73152" cy="18745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649224" y="1325880"/>
            <a:ext cx="32004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2C3F70"/>
                </a:solidFill>
                <a:latin typeface="Arial"/>
              </a:rPr>
              <a:t>TECHNICALLY FEASIBLE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49224" y="1673352"/>
            <a:ext cx="3200400" cy="1362455"/>
          </a:xfrm>
          <a:prstGeom prst="rect">
            <a:avLst/>
          </a:prstGeom>
          <a:noFill/>
        </p:spPr>
        <p:txBody>
          <a:bodyPr wrap="square" lIns="9144" tIns="9144" rIns="9144" bIns="9144">
            <a:norm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E232A"/>
                </a:solidFill>
                <a:latin typeface="Arial"/>
              </a:defRPr>
            </a:pPr>
            <a:r>
              <a:t>• NLP classification, multi-label tagging and information extraction are established ML tasks.</a:t>
            </a:r>
          </a:p>
          <a:p>
            <a:pPr>
              <a:spcAft>
                <a:spcPts val="300"/>
              </a:spcAft>
              <a:defRPr sz="1150">
                <a:solidFill>
                  <a:srgbClr val="1E232A"/>
                </a:solidFill>
                <a:latin typeface="Arial"/>
              </a:defRPr>
            </a:pPr>
            <a:r>
              <a:t>• Architecture separates ingestion, ML processing and analytics for modular scaling.</a:t>
            </a:r>
          </a:p>
          <a:p>
            <a:pPr>
              <a:spcAft>
                <a:spcPts val="300"/>
              </a:spcAft>
              <a:defRPr sz="1150">
                <a:solidFill>
                  <a:srgbClr val="1E232A"/>
                </a:solidFill>
                <a:latin typeface="Arial"/>
              </a:defRPr>
            </a:pPr>
            <a:r>
              <a:t>• Object storage + metadata DB supports large report batches.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02920" y="3246120"/>
            <a:ext cx="3429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Rectangle 17415"/>
          <p:cNvSpPr/>
          <p:nvPr/>
        </p:nvSpPr>
        <p:spPr>
          <a:xfrm>
            <a:off x="502920" y="3246120"/>
            <a:ext cx="73152" cy="201168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649224" y="3337560"/>
            <a:ext cx="32004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2C3F70"/>
                </a:solidFill>
                <a:latin typeface="Arial"/>
              </a:rPr>
              <a:t>OPERATIONALLY VIABLE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49224" y="3685031"/>
            <a:ext cx="3200400" cy="1499616"/>
          </a:xfrm>
          <a:prstGeom prst="rect">
            <a:avLst/>
          </a:prstGeom>
          <a:noFill/>
        </p:spPr>
        <p:txBody>
          <a:bodyPr wrap="square" lIns="9144" tIns="9144" rIns="9144" bIns="9144">
            <a:norm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E232A"/>
                </a:solidFill>
                <a:latin typeface="Arial"/>
              </a:defRPr>
            </a:pPr>
            <a:r>
              <a:t>• Fits the existing safety-report workflow: ingest → analyze → review → prioritize.</a:t>
            </a:r>
          </a:p>
          <a:p>
            <a:pPr>
              <a:spcAft>
                <a:spcPts val="300"/>
              </a:spcAft>
              <a:defRPr sz="1150">
                <a:solidFill>
                  <a:srgbClr val="1E232A"/>
                </a:solidFill>
                <a:latin typeface="Arial"/>
              </a:defRPr>
            </a:pPr>
            <a:r>
              <a:t>• HSE retains final decision authority through human-in-the-loop review.</a:t>
            </a:r>
          </a:p>
          <a:p>
            <a:pPr>
              <a:spcAft>
                <a:spcPts val="300"/>
              </a:spcAft>
              <a:defRPr sz="1150">
                <a:solidFill>
                  <a:srgbClr val="1E232A"/>
                </a:solidFill>
                <a:latin typeface="Arial"/>
              </a:defRPr>
            </a:pPr>
            <a:r>
              <a:t>• Dashboard converts model output into intervention priorities.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4160520" y="1234440"/>
            <a:ext cx="7269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300" b="1">
                <a:solidFill>
                  <a:srgbClr val="2C3F70"/>
                </a:solidFill>
                <a:latin typeface="Arial"/>
              </a:rPr>
              <a:t>KEY CHALLENGES → MITIGATION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4160520" y="1627632"/>
            <a:ext cx="2148840" cy="566928"/>
          </a:xfrm>
          <a:prstGeom prst="rect">
            <a:avLst/>
          </a:prstGeom>
          <a:solidFill>
            <a:srgbClr val="F2F5F8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Rectangle 17420"/>
          <p:cNvSpPr/>
          <p:nvPr/>
        </p:nvSpPr>
        <p:spPr>
          <a:xfrm>
            <a:off x="6309360" y="1627632"/>
            <a:ext cx="5166360" cy="566928"/>
          </a:xfrm>
          <a:prstGeom prst="rect">
            <a:avLst/>
          </a:prstGeom>
          <a:solidFill>
            <a:srgbClr val="F2F5F8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TextBox 17421"/>
          <p:cNvSpPr txBox="1"/>
          <p:nvPr/>
        </p:nvSpPr>
        <p:spPr>
          <a:xfrm>
            <a:off x="4233672" y="1719072"/>
            <a:ext cx="2002536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50" b="1">
                <a:solidFill>
                  <a:srgbClr val="2C3F70"/>
                </a:solidFill>
                <a:latin typeface="Arial"/>
              </a:rPr>
              <a:t>Limited SIF-labelled data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6400800" y="1709928"/>
            <a:ext cx="5001768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00" b="0">
                <a:solidFill>
                  <a:srgbClr val="1E232A"/>
                </a:solidFill>
                <a:latin typeface="Arial"/>
              </a:rPr>
              <a:t>Expert review + weak-label bootstrapping + iterative re-labelling</a:t>
            </a:r>
          </a:p>
        </p:txBody>
      </p:sp>
      <p:sp>
        <p:nvSpPr>
          <p:cNvPr id="17424" name="Rectangle 17423"/>
          <p:cNvSpPr/>
          <p:nvPr/>
        </p:nvSpPr>
        <p:spPr>
          <a:xfrm>
            <a:off x="4160520" y="2194560"/>
            <a:ext cx="2148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Rectangle 17424"/>
          <p:cNvSpPr/>
          <p:nvPr/>
        </p:nvSpPr>
        <p:spPr>
          <a:xfrm>
            <a:off x="6309360" y="2194560"/>
            <a:ext cx="5166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TextBox 17425"/>
          <p:cNvSpPr txBox="1"/>
          <p:nvPr/>
        </p:nvSpPr>
        <p:spPr>
          <a:xfrm>
            <a:off x="4233672" y="2286000"/>
            <a:ext cx="2002536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50" b="1">
                <a:solidFill>
                  <a:srgbClr val="2C3F70"/>
                </a:solidFill>
                <a:latin typeface="Arial"/>
              </a:rPr>
              <a:t>Class imbalance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6400800" y="2276856"/>
            <a:ext cx="5001768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00" b="0">
                <a:solidFill>
                  <a:srgbClr val="1E232A"/>
                </a:solidFill>
                <a:latin typeface="Arial"/>
              </a:rPr>
              <a:t>Optimize for SIF recall; use class weighting / threshold tuning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4160520" y="2761488"/>
            <a:ext cx="2148840" cy="566928"/>
          </a:xfrm>
          <a:prstGeom prst="rect">
            <a:avLst/>
          </a:prstGeom>
          <a:solidFill>
            <a:srgbClr val="F2F5F8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Rectangle 17428"/>
          <p:cNvSpPr/>
          <p:nvPr/>
        </p:nvSpPr>
        <p:spPr>
          <a:xfrm>
            <a:off x="6309360" y="2761488"/>
            <a:ext cx="5166360" cy="566928"/>
          </a:xfrm>
          <a:prstGeom prst="rect">
            <a:avLst/>
          </a:prstGeom>
          <a:solidFill>
            <a:srgbClr val="F2F5F8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0" name="TextBox 17429"/>
          <p:cNvSpPr txBox="1"/>
          <p:nvPr/>
        </p:nvSpPr>
        <p:spPr>
          <a:xfrm>
            <a:off x="4233672" y="2852928"/>
            <a:ext cx="2002536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50" b="1">
                <a:solidFill>
                  <a:srgbClr val="2C3F70"/>
                </a:solidFill>
                <a:latin typeface="Arial"/>
              </a:rPr>
              <a:t>Domain terminology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6400800" y="2843784"/>
            <a:ext cx="5001768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00" b="0">
                <a:solidFill>
                  <a:srgbClr val="1E232A"/>
                </a:solidFill>
                <a:latin typeface="Arial"/>
              </a:rPr>
              <a:t>Safety vocabulary + entity extraction + domain-specific examples</a:t>
            </a:r>
          </a:p>
        </p:txBody>
      </p:sp>
      <p:sp>
        <p:nvSpPr>
          <p:cNvPr id="17432" name="Rectangle 17431"/>
          <p:cNvSpPr/>
          <p:nvPr/>
        </p:nvSpPr>
        <p:spPr>
          <a:xfrm>
            <a:off x="4160520" y="3328415"/>
            <a:ext cx="2148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Rectangle 17432"/>
          <p:cNvSpPr/>
          <p:nvPr/>
        </p:nvSpPr>
        <p:spPr>
          <a:xfrm>
            <a:off x="6309360" y="3328415"/>
            <a:ext cx="5166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4" name="TextBox 17433"/>
          <p:cNvSpPr txBox="1"/>
          <p:nvPr/>
        </p:nvSpPr>
        <p:spPr>
          <a:xfrm>
            <a:off x="4233672" y="3419856"/>
            <a:ext cx="2002536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50" b="1">
                <a:solidFill>
                  <a:srgbClr val="2C3F70"/>
                </a:solidFill>
                <a:latin typeface="Arial"/>
              </a:rPr>
              <a:t>False positives / negatives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6400800" y="3410711"/>
            <a:ext cx="5001768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00" b="0">
                <a:solidFill>
                  <a:srgbClr val="1E232A"/>
                </a:solidFill>
                <a:latin typeface="Arial"/>
              </a:rPr>
              <a:t>Confidence thresholds + human review + audit trail</a:t>
            </a:r>
          </a:p>
        </p:txBody>
      </p:sp>
      <p:sp>
        <p:nvSpPr>
          <p:cNvPr id="17436" name="Rectangle 17435"/>
          <p:cNvSpPr/>
          <p:nvPr/>
        </p:nvSpPr>
        <p:spPr>
          <a:xfrm>
            <a:off x="4160520" y="3895344"/>
            <a:ext cx="2148840" cy="566928"/>
          </a:xfrm>
          <a:prstGeom prst="rect">
            <a:avLst/>
          </a:prstGeom>
          <a:solidFill>
            <a:srgbClr val="F2F5F8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7" name="Rectangle 17436"/>
          <p:cNvSpPr/>
          <p:nvPr/>
        </p:nvSpPr>
        <p:spPr>
          <a:xfrm>
            <a:off x="6309360" y="3895344"/>
            <a:ext cx="5166360" cy="566928"/>
          </a:xfrm>
          <a:prstGeom prst="rect">
            <a:avLst/>
          </a:prstGeom>
          <a:solidFill>
            <a:srgbClr val="F2F5F8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8" name="TextBox 17437"/>
          <p:cNvSpPr txBox="1"/>
          <p:nvPr/>
        </p:nvSpPr>
        <p:spPr>
          <a:xfrm>
            <a:off x="4233672" y="3986783"/>
            <a:ext cx="2002536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50" b="1">
                <a:solidFill>
                  <a:srgbClr val="2C3F70"/>
                </a:solidFill>
                <a:latin typeface="Arial"/>
              </a:rPr>
              <a:t>Explainability &amp; trust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6400800" y="3977639"/>
            <a:ext cx="5001768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00" b="0">
                <a:solidFill>
                  <a:srgbClr val="1E232A"/>
                </a:solidFill>
                <a:latin typeface="Arial"/>
              </a:rPr>
              <a:t>Show evidence spans, rule mapping and confidence with every flag</a:t>
            </a:r>
          </a:p>
        </p:txBody>
      </p:sp>
      <p:sp>
        <p:nvSpPr>
          <p:cNvPr id="17440" name="Rectangle 17439"/>
          <p:cNvSpPr/>
          <p:nvPr/>
        </p:nvSpPr>
        <p:spPr>
          <a:xfrm>
            <a:off x="4160520" y="4462272"/>
            <a:ext cx="2148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1" name="Rectangle 17440"/>
          <p:cNvSpPr/>
          <p:nvPr/>
        </p:nvSpPr>
        <p:spPr>
          <a:xfrm>
            <a:off x="6309360" y="4462272"/>
            <a:ext cx="5166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2" name="TextBox 17441"/>
          <p:cNvSpPr txBox="1"/>
          <p:nvPr/>
        </p:nvSpPr>
        <p:spPr>
          <a:xfrm>
            <a:off x="4233672" y="4553712"/>
            <a:ext cx="2002536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50" b="1">
                <a:solidFill>
                  <a:srgbClr val="2C3F70"/>
                </a:solidFill>
                <a:latin typeface="Arial"/>
              </a:rPr>
              <a:t>Sensitive enterprise data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6400800" y="4544568"/>
            <a:ext cx="5001768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00" b="0">
                <a:solidFill>
                  <a:srgbClr val="1E232A"/>
                </a:solidFill>
                <a:latin typeface="Arial"/>
              </a:rPr>
              <a:t>Role-based access, encryption and controlled deployment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4160520" y="5166360"/>
            <a:ext cx="7269480" cy="530352"/>
          </a:xfrm>
          <a:prstGeom prst="roundRect">
            <a:avLst/>
          </a:prstGeom>
          <a:solidFill>
            <a:srgbClr val="E8F7EF"/>
          </a:solidFill>
          <a:ln w="12700"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5" name="TextBox 17444"/>
          <p:cNvSpPr txBox="1"/>
          <p:nvPr/>
        </p:nvSpPr>
        <p:spPr>
          <a:xfrm>
            <a:off x="4343400" y="5257800"/>
            <a:ext cx="690372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050" b="1">
                <a:solidFill>
                  <a:srgbClr val="228B5E"/>
                </a:solidFill>
                <a:latin typeface="Arial"/>
              </a:rPr>
              <a:t>VIABILITY SIGNAL  •  Scalable architecture  •  Clear HSE user  •  Explainable outputs  •  Human oversight  •  100k+ report capacity target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lIns="18288" tIns="18288" rIns="18288" bIns="18288" anchor="ctr">
            <a:normAutofit/>
          </a:bodyPr>
          <a:lstStyle/>
          <a:p>
            <a:pPr algn="ctr" eaLnBrk="1" hangingPunct="1"/>
            <a:r>
              <a:rPr sz="2400" b="1">
                <a:solidFill>
                  <a:srgbClr val="2C3F70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18288" tIns="18288" rIns="18288" bIns="18288" rtlCol="0" anchor="ctr">
            <a:normAutofit/>
          </a:bodyPr>
          <a:lstStyle/>
          <a:p>
            <a:pPr algn="ctr"/>
            <a:r>
              <a:rPr sz="1100" b="1">
                <a:solidFill>
                  <a:srgbClr val="2C3F70"/>
                </a:solidFill>
                <a:latin typeface="Arial"/>
              </a:rPr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502920" y="1234440"/>
            <a:ext cx="111099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300" b="1">
                <a:solidFill>
                  <a:srgbClr val="2C3F70"/>
                </a:solidFill>
                <a:latin typeface="Arial"/>
              </a:rPr>
              <a:t>FROM REACTIVE TRIAGE → PROACTIVE SIF RISK PRIORITIZATION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94360" y="1691640"/>
            <a:ext cx="5074920" cy="105156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F07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777240" y="1810512"/>
            <a:ext cx="1417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00" b="1">
                <a:solidFill>
                  <a:srgbClr val="F07E26"/>
                </a:solidFill>
                <a:latin typeface="Arial"/>
              </a:rPr>
              <a:t>TODAY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828800" y="1764792"/>
            <a:ext cx="352044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200" b="1">
                <a:solidFill>
                  <a:srgbClr val="1E232A"/>
                </a:solidFill>
                <a:latin typeface="Arial"/>
              </a:rPr>
              <a:t>Periodic / manual review of large volumes of safety narratives</a:t>
            </a:r>
          </a:p>
        </p:txBody>
      </p:sp>
      <p:cxnSp>
        <p:nvCxnSpPr>
          <p:cNvPr id="17415" name="Connector 17414"/>
          <p:cNvCxnSpPr/>
          <p:nvPr/>
        </p:nvCxnSpPr>
        <p:spPr>
          <a:xfrm>
            <a:off x="5806440" y="2212848"/>
            <a:ext cx="502920" cy="0"/>
          </a:xfrm>
          <a:prstGeom prst="line">
            <a:avLst/>
          </a:prstGeom>
          <a:ln w="317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6" name="Rounded Rectangle 17415"/>
          <p:cNvSpPr/>
          <p:nvPr/>
        </p:nvSpPr>
        <p:spPr>
          <a:xfrm>
            <a:off x="6446520" y="1691640"/>
            <a:ext cx="5074920" cy="1051560"/>
          </a:xfrm>
          <a:prstGeom prst="roundRect">
            <a:avLst/>
          </a:prstGeom>
          <a:solidFill>
            <a:srgbClr val="E8F7EF"/>
          </a:solidFill>
          <a:ln w="12700"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6629400" y="1810512"/>
            <a:ext cx="1417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00" b="1">
                <a:solidFill>
                  <a:srgbClr val="228B5E"/>
                </a:solidFill>
                <a:latin typeface="Arial"/>
              </a:rPr>
              <a:t>WITH SIF-GUARD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7726679" y="1764792"/>
            <a:ext cx="352044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50" b="1">
                <a:solidFill>
                  <a:srgbClr val="1E232A"/>
                </a:solidFill>
                <a:latin typeface="Arial"/>
              </a:rPr>
              <a:t>AI-ranked SIF precursor signals + Life-Saving Rules + recurring patterns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594360" y="306324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Rectangle 17419"/>
          <p:cNvSpPr/>
          <p:nvPr/>
        </p:nvSpPr>
        <p:spPr>
          <a:xfrm>
            <a:off x="594360" y="3063240"/>
            <a:ext cx="73152" cy="2057400"/>
          </a:xfrm>
          <a:prstGeom prst="rect">
            <a:avLst/>
          </a:prstGeom>
          <a:solidFill>
            <a:srgbClr val="C0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TextBox 17420"/>
          <p:cNvSpPr txBox="1"/>
          <p:nvPr/>
        </p:nvSpPr>
        <p:spPr>
          <a:xfrm>
            <a:off x="740664" y="3154680"/>
            <a:ext cx="32004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2C3F70"/>
                </a:solidFill>
                <a:latin typeface="Arial"/>
              </a:rPr>
              <a:t>HSE / SAFETY TEAMS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740664" y="3502152"/>
            <a:ext cx="3200400" cy="1545336"/>
          </a:xfrm>
          <a:prstGeom prst="rect">
            <a:avLst/>
          </a:prstGeom>
          <a:noFill/>
        </p:spPr>
        <p:txBody>
          <a:bodyPr wrap="square" lIns="9144" tIns="9144" rIns="9144" bIns="9144">
            <a:normAutofit/>
          </a:bodyPr>
          <a:lstStyle/>
          <a:p>
            <a:pPr>
              <a:spcAft>
                <a:spcPts val="300"/>
              </a:spcAft>
              <a:defRPr sz="1160">
                <a:solidFill>
                  <a:srgbClr val="1E232A"/>
                </a:solidFill>
                <a:latin typeface="Arial"/>
              </a:defRPr>
            </a:pPr>
            <a:r>
              <a:t>• Prioritize reports with genuine fatal potential.</a:t>
            </a:r>
          </a:p>
          <a:p>
            <a:pPr>
              <a:spcAft>
                <a:spcPts val="300"/>
              </a:spcAft>
              <a:defRPr sz="1160">
                <a:solidFill>
                  <a:srgbClr val="1E232A"/>
                </a:solidFill>
                <a:latin typeface="Arial"/>
              </a:defRPr>
            </a:pPr>
            <a:r>
              <a:t>• Filter by site, activity, hazard, rule and trend.</a:t>
            </a:r>
          </a:p>
          <a:p>
            <a:pPr>
              <a:spcAft>
                <a:spcPts val="300"/>
              </a:spcAft>
              <a:defRPr sz="1160">
                <a:solidFill>
                  <a:srgbClr val="1E232A"/>
                </a:solidFill>
                <a:latin typeface="Arial"/>
              </a:defRPr>
            </a:pPr>
            <a:r>
              <a:t>• Use evidence-backed AI output for review.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4343400" y="306324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Rectangle 17423"/>
          <p:cNvSpPr/>
          <p:nvPr/>
        </p:nvSpPr>
        <p:spPr>
          <a:xfrm>
            <a:off x="4343400" y="3063240"/>
            <a:ext cx="73152" cy="20574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TextBox 17424"/>
          <p:cNvSpPr txBox="1"/>
          <p:nvPr/>
        </p:nvSpPr>
        <p:spPr>
          <a:xfrm>
            <a:off x="4489704" y="3154680"/>
            <a:ext cx="32004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2C3F70"/>
                </a:solidFill>
                <a:latin typeface="Arial"/>
              </a:rPr>
              <a:t>SITE &amp; OPERATIONS LEADERS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4489704" y="3502152"/>
            <a:ext cx="3200400" cy="1545336"/>
          </a:xfrm>
          <a:prstGeom prst="rect">
            <a:avLst/>
          </a:prstGeom>
          <a:noFill/>
        </p:spPr>
        <p:txBody>
          <a:bodyPr wrap="square" lIns="9144" tIns="9144" rIns="9144" bIns="9144">
            <a:normAutofit/>
          </a:bodyPr>
          <a:lstStyle/>
          <a:p>
            <a:pPr>
              <a:spcAft>
                <a:spcPts val="300"/>
              </a:spcAft>
              <a:defRPr sz="1160">
                <a:solidFill>
                  <a:srgbClr val="1E232A"/>
                </a:solidFill>
                <a:latin typeface="Arial"/>
              </a:defRPr>
            </a:pPr>
            <a:r>
              <a:t>• See recurring precursor hotspots.</a:t>
            </a:r>
          </a:p>
          <a:p>
            <a:pPr>
              <a:spcAft>
                <a:spcPts val="300"/>
              </a:spcAft>
              <a:defRPr sz="1160">
                <a:solidFill>
                  <a:srgbClr val="1E232A"/>
                </a:solidFill>
                <a:latin typeface="Arial"/>
              </a:defRPr>
            </a:pPr>
            <a:r>
              <a:t>• Identify barrier failures and intervention themes.</a:t>
            </a:r>
          </a:p>
          <a:p>
            <a:pPr>
              <a:spcAft>
                <a:spcPts val="300"/>
              </a:spcAft>
              <a:defRPr sz="1160">
                <a:solidFill>
                  <a:srgbClr val="1E232A"/>
                </a:solidFill>
                <a:latin typeface="Arial"/>
              </a:defRPr>
            </a:pPr>
            <a:r>
              <a:t>• Move from incident counts to risk-focused action.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8092440" y="306324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Rectangle 17427"/>
          <p:cNvSpPr/>
          <p:nvPr/>
        </p:nvSpPr>
        <p:spPr>
          <a:xfrm>
            <a:off x="8092440" y="3063240"/>
            <a:ext cx="73152" cy="205740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TextBox 17428"/>
          <p:cNvSpPr txBox="1"/>
          <p:nvPr/>
        </p:nvSpPr>
        <p:spPr>
          <a:xfrm>
            <a:off x="8238744" y="3154680"/>
            <a:ext cx="32004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2C3F70"/>
                </a:solidFill>
                <a:latin typeface="Arial"/>
              </a:rPr>
              <a:t>ORGANIZATION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8238744" y="3502152"/>
            <a:ext cx="3200400" cy="1545336"/>
          </a:xfrm>
          <a:prstGeom prst="rect">
            <a:avLst/>
          </a:prstGeom>
          <a:noFill/>
        </p:spPr>
        <p:txBody>
          <a:bodyPr wrap="square" lIns="9144" tIns="9144" rIns="9144" bIns="9144">
            <a:normAutofit/>
          </a:bodyPr>
          <a:lstStyle/>
          <a:p>
            <a:pPr>
              <a:spcAft>
                <a:spcPts val="300"/>
              </a:spcAft>
              <a:defRPr sz="1160">
                <a:solidFill>
                  <a:srgbClr val="1E232A"/>
                </a:solidFill>
                <a:latin typeface="Arial"/>
              </a:defRPr>
            </a:pPr>
            <a:r>
              <a:t>• More consistent safety intelligence at scale.</a:t>
            </a:r>
          </a:p>
          <a:p>
            <a:pPr>
              <a:spcAft>
                <a:spcPts val="300"/>
              </a:spcAft>
              <a:defRPr sz="1160">
                <a:solidFill>
                  <a:srgbClr val="1E232A"/>
                </a:solidFill>
                <a:latin typeface="Arial"/>
              </a:defRPr>
            </a:pPr>
            <a:r>
              <a:t>• Reusable analytics across sites and activities.</a:t>
            </a:r>
          </a:p>
          <a:p>
            <a:pPr>
              <a:spcAft>
                <a:spcPts val="300"/>
              </a:spcAft>
              <a:defRPr sz="1160">
                <a:solidFill>
                  <a:srgbClr val="1E232A"/>
                </a:solidFill>
                <a:latin typeface="Arial"/>
              </a:defRPr>
            </a:pPr>
            <a:r>
              <a:t>• Stronger learning loop from reports → actions.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594360" y="5376672"/>
            <a:ext cx="10927080" cy="502920"/>
          </a:xfrm>
          <a:prstGeom prst="roundRect">
            <a:avLst/>
          </a:prstGeom>
          <a:solidFill>
            <a:srgbClr val="2C3F70"/>
          </a:solidFill>
          <a:ln w="12700">
            <a:solidFill>
              <a:srgbClr val="2C3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2" name="TextBox 17431"/>
          <p:cNvSpPr txBox="1"/>
          <p:nvPr/>
        </p:nvSpPr>
        <p:spPr>
          <a:xfrm>
            <a:off x="777240" y="5458968"/>
            <a:ext cx="10561320" cy="3017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rial"/>
              </a:rPr>
              <a:t>CORE BENEFIT  •  Find the small set of reports that can signal serious harm earlier — and direct HSE attention where it matters most.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lIns="18288" tIns="18288" rIns="18288" bIns="18288" anchor="ctr">
            <a:normAutofit/>
          </a:bodyPr>
          <a:lstStyle/>
          <a:p>
            <a:pPr algn="ctr" eaLnBrk="1" hangingPunct="1"/>
            <a:r>
              <a:rPr sz="2400" b="1">
                <a:solidFill>
                  <a:srgbClr val="2C3F70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18288" tIns="18288" rIns="18288" bIns="18288" rtlCol="0" anchor="ctr">
            <a:normAutofit/>
          </a:bodyPr>
          <a:lstStyle/>
          <a:p>
            <a:pPr algn="ctr"/>
            <a:r>
              <a:rPr sz="1100" b="1">
                <a:solidFill>
                  <a:srgbClr val="2C3F70"/>
                </a:solidFill>
                <a:latin typeface="Arial"/>
              </a:rPr>
              <a:t>[TEAM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02920" y="1234440"/>
            <a:ext cx="54864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Rectangle 17411"/>
          <p:cNvSpPr/>
          <p:nvPr/>
        </p:nvSpPr>
        <p:spPr>
          <a:xfrm>
            <a:off x="502920" y="1234440"/>
            <a:ext cx="73152" cy="1965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649224" y="1325880"/>
            <a:ext cx="52578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2C3F70"/>
                </a:solidFill>
                <a:latin typeface="Arial"/>
              </a:rPr>
              <a:t>RESEARCH BASIS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49224" y="1673352"/>
            <a:ext cx="5257800" cy="1453895"/>
          </a:xfrm>
          <a:prstGeom prst="rect">
            <a:avLst/>
          </a:prstGeom>
          <a:noFill/>
        </p:spPr>
        <p:txBody>
          <a:bodyPr wrap="square" lIns="9144" tIns="9144" rIns="9144" bIns="9144">
            <a:norm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E232A"/>
                </a:solidFill>
                <a:latin typeface="Arial"/>
              </a:defRPr>
            </a:pPr>
            <a:r>
              <a:t>• SIH26165 problem statement: SIF-potential classification, Life-Saving Rule tagging and precursor-pattern dashboard.</a:t>
            </a:r>
          </a:p>
          <a:p>
            <a:pPr>
              <a:spcAft>
                <a:spcPts val="300"/>
              </a:spcAft>
              <a:defRPr sz="1150">
                <a:solidFill>
                  <a:srgbClr val="1E232A"/>
                </a:solidFill>
                <a:latin typeface="Arial"/>
              </a:defRPr>
            </a:pPr>
            <a:r>
              <a:t>• IOGP Life-Saving Rules: industry framework focused on activities most likely to lead to fatalities.</a:t>
            </a:r>
          </a:p>
          <a:p>
            <a:pPr>
              <a:spcAft>
                <a:spcPts val="300"/>
              </a:spcAft>
              <a:defRPr sz="1150">
                <a:solidFill>
                  <a:srgbClr val="1E232A"/>
                </a:solidFill>
                <a:latin typeface="Arial"/>
              </a:defRPr>
            </a:pPr>
            <a:r>
              <a:t>• Scientific Reports (2024): transformer + XGBoost approach for automatic PSIF identification; emphasizes scarce labels and recall of high-risk cases.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02920" y="3364992"/>
            <a:ext cx="548640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Rectangle 17415"/>
          <p:cNvSpPr/>
          <p:nvPr/>
        </p:nvSpPr>
        <p:spPr>
          <a:xfrm>
            <a:off x="502920" y="3364992"/>
            <a:ext cx="73152" cy="1627632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649224" y="3456432"/>
            <a:ext cx="52578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2C3F70"/>
                </a:solidFill>
                <a:latin typeface="Arial"/>
              </a:rPr>
              <a:t>PROJECT DESIGN SOURCES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49224" y="3803904"/>
            <a:ext cx="5257800" cy="1115568"/>
          </a:xfrm>
          <a:prstGeom prst="rect">
            <a:avLst/>
          </a:prstGeom>
          <a:noFill/>
        </p:spPr>
        <p:txBody>
          <a:bodyPr wrap="square" lIns="9144" tIns="9144" rIns="9144" bIns="9144">
            <a:norm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E232A"/>
                </a:solidFill>
                <a:latin typeface="Arial"/>
              </a:defRPr>
            </a:pPr>
            <a:r>
              <a:t>• Team architecture / flowchart: API Gateway → Report Service → Object Storage + DB → ML Model → Analytics.</a:t>
            </a:r>
          </a:p>
          <a:p>
            <a:pPr>
              <a:spcAft>
                <a:spcPts val="300"/>
              </a:spcAft>
              <a:defRPr sz="1150">
                <a:solidFill>
                  <a:srgbClr val="1E232A"/>
                </a:solidFill>
                <a:latin typeface="Arial"/>
              </a:defRPr>
            </a:pPr>
            <a:r>
              <a:t>• Team functional requirements: explainability, report-level analysis, ranking, filtering and dashboard.</a:t>
            </a:r>
          </a:p>
          <a:p>
            <a:pPr>
              <a:spcAft>
                <a:spcPts val="300"/>
              </a:spcAft>
              <a:defRPr sz="1150">
                <a:solidFill>
                  <a:srgbClr val="1E232A"/>
                </a:solidFill>
                <a:latin typeface="Arial"/>
              </a:defRPr>
            </a:pPr>
            <a:r>
              <a:t>• UI concept: Google Stitch project supplied by the team.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263640" y="1234440"/>
            <a:ext cx="5257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300" b="1">
                <a:solidFill>
                  <a:srgbClr val="2C3F70"/>
                </a:solidFill>
                <a:latin typeface="Arial"/>
              </a:rPr>
              <a:t>KEY REFERENCES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309360" y="1664208"/>
            <a:ext cx="507492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TextBox 17420"/>
          <p:cNvSpPr txBox="1"/>
          <p:nvPr/>
        </p:nvSpPr>
        <p:spPr>
          <a:xfrm>
            <a:off x="6473952" y="1728216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30" b="1">
                <a:solidFill>
                  <a:srgbClr val="2C3F70"/>
                </a:solidFill>
                <a:latin typeface="Arial"/>
              </a:rPr>
              <a:t>SIH26165 problem statement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8577072" y="1737360"/>
            <a:ext cx="2606040" cy="3474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720" b="0">
                <a:solidFill>
                  <a:srgbClr val="0070C0"/>
                </a:solidFill>
                <a:latin typeface="Arial"/>
              </a:rPr>
              <a:t>https://sih2026.vuce.in/ps/SIH26165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6309360" y="2286000"/>
            <a:ext cx="507492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TextBox 17423"/>
          <p:cNvSpPr txBox="1"/>
          <p:nvPr/>
        </p:nvSpPr>
        <p:spPr>
          <a:xfrm>
            <a:off x="6473952" y="2350008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30" b="1">
                <a:solidFill>
                  <a:srgbClr val="2C3F70"/>
                </a:solidFill>
                <a:latin typeface="Arial"/>
              </a:rPr>
              <a:t>IOGP — Life-Saving Rules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8577072" y="2359152"/>
            <a:ext cx="2606040" cy="3474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720" b="0">
                <a:solidFill>
                  <a:srgbClr val="0070C0"/>
                </a:solidFill>
                <a:latin typeface="Arial"/>
              </a:rPr>
              <a:t>https://www.iogp.org/workstreams/safety/safety/life-savingrules/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309360" y="2907792"/>
            <a:ext cx="507492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TextBox 17426"/>
          <p:cNvSpPr txBox="1"/>
          <p:nvPr/>
        </p:nvSpPr>
        <p:spPr>
          <a:xfrm>
            <a:off x="6473952" y="297180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30" b="1">
                <a:solidFill>
                  <a:srgbClr val="2C3F70"/>
                </a:solidFill>
                <a:latin typeface="Arial"/>
              </a:rPr>
              <a:t>Parikh, Penfield &amp; Juaire (2024), Scientific Reports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8577072" y="2980944"/>
            <a:ext cx="2606040" cy="3474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720" b="0">
                <a:solidFill>
                  <a:srgbClr val="0070C0"/>
                </a:solidFill>
                <a:latin typeface="Arial"/>
              </a:rPr>
              <a:t>https://doi.org/10.1038/s41598-024-58824-y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6309360" y="3529584"/>
            <a:ext cx="507492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0" name="TextBox 17429"/>
          <p:cNvSpPr txBox="1"/>
          <p:nvPr/>
        </p:nvSpPr>
        <p:spPr>
          <a:xfrm>
            <a:off x="6473952" y="3593592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30" b="1">
                <a:solidFill>
                  <a:srgbClr val="2C3F70"/>
                </a:solidFill>
                <a:latin typeface="Arial"/>
              </a:rPr>
              <a:t>Hugging Face Transformers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8577072" y="3602736"/>
            <a:ext cx="2606040" cy="3474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720" b="0">
                <a:solidFill>
                  <a:srgbClr val="0070C0"/>
                </a:solidFill>
                <a:latin typeface="Arial"/>
              </a:rPr>
              <a:t>https://huggingface.co/docs/transformers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6309360" y="4151376"/>
            <a:ext cx="507492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TextBox 17432"/>
          <p:cNvSpPr txBox="1"/>
          <p:nvPr/>
        </p:nvSpPr>
        <p:spPr>
          <a:xfrm>
            <a:off x="6473952" y="4215384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30" b="1">
                <a:solidFill>
                  <a:srgbClr val="2C3F70"/>
                </a:solidFill>
                <a:latin typeface="Arial"/>
              </a:rPr>
              <a:t>scikit-learn User Guide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8577072" y="4224528"/>
            <a:ext cx="2606040" cy="3474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720" b="0">
                <a:solidFill>
                  <a:srgbClr val="0070C0"/>
                </a:solidFill>
                <a:latin typeface="Arial"/>
              </a:rPr>
              <a:t>https://scikit-learn.org/stable/user_guide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6309360" y="4773168"/>
            <a:ext cx="507492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6" name="TextBox 17435"/>
          <p:cNvSpPr txBox="1"/>
          <p:nvPr/>
        </p:nvSpPr>
        <p:spPr>
          <a:xfrm>
            <a:off x="6473952" y="4837176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30" b="1">
                <a:solidFill>
                  <a:srgbClr val="2C3F70"/>
                </a:solidFill>
                <a:latin typeface="Arial"/>
              </a:rPr>
              <a:t>Google Stitch — team UI concept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8577072" y="4846320"/>
            <a:ext cx="2606040" cy="3474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720" b="0">
                <a:solidFill>
                  <a:srgbClr val="0070C0"/>
                </a:solidFill>
                <a:latin typeface="Arial"/>
              </a:rPr>
              <a:t>https://stitch.withgoogle.com/projects/16618479661883627949?pli=1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6309360" y="5440680"/>
            <a:ext cx="5074920" cy="4572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9" name="TextBox 17438"/>
          <p:cNvSpPr txBox="1"/>
          <p:nvPr/>
        </p:nvSpPr>
        <p:spPr>
          <a:xfrm>
            <a:off x="6446520" y="5513832"/>
            <a:ext cx="480060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960" b="1">
                <a:solidFill>
                  <a:srgbClr val="1E232A"/>
                </a:solidFill>
                <a:latin typeface="Arial"/>
              </a:rPr>
              <a:t>Design goal: precise, explainable and actionable — not a black-box severity classifier.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7490</TotalTime>
  <Words>1041</Words>
  <Application>Microsoft Office PowerPoint</Application>
  <PresentationFormat>Widescreen</PresentationFormat>
  <Paragraphs>170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SIF-GUARD: AI/NLP SIF PRECURSOR INTELLIGENCE</vt:lpstr>
      <vt:lpstr>TECHNICAL APPROACH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Prajjwal Pathak</cp:lastModifiedBy>
  <cp:revision>148</cp:revision>
  <dcterms:created xsi:type="dcterms:W3CDTF">2013-12-12T18:46:50Z</dcterms:created>
  <dcterms:modified xsi:type="dcterms:W3CDTF">2026-09-10T17:29:32Z</dcterms:modified>
  <cp:category/>
</cp:coreProperties>
</file>